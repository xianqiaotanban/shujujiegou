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Override PartName="/ppt/tags/tag2.xml" ContentType="application/vnd.openxmlformats-officedocument.presentationml.tags+xml"/>
  <Override PartName="/ppt/tags/tag3.xml" ContentType="application/vnd.openxmlformats-officedocument.presentationml.tags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82" r:id="rId14"/>
    <p:sldId id="269" r:id="rId15"/>
    <p:sldId id="266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1" r:id="rId26"/>
    <p:sldId id="280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-114" y="-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pPr/>
              <a:t>2020/12/29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2020/12/29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2020/12/29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2020/12/29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2020/12/29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2020/12/29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2020/12/29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2020/12/29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2020/12/29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2020/12/29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2020/12/29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2020/12/29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pPr/>
              <a:t>2020/12/29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10.w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image" Target="../media/image15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wmf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62940" y="842010"/>
            <a:ext cx="10685145" cy="1314450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>
                <a:latin typeface="+mn-ea"/>
                <a:ea typeface="+mn-ea"/>
                <a:cs typeface="+mn-ea"/>
              </a:rPr>
              <a:t>设有数据结构（D，R），其中D = {1, 2, 3, 4, 5, 6}，R = {(1, 2),(2, 3),(2, 4),(3, 4),(3, 5),(3, 6),(4, 5),(4, 6)}。试画出其逻辑结构图并指出属于何种结构。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25675" y="2390775"/>
            <a:ext cx="4575175" cy="35858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633095" y="767080"/>
            <a:ext cx="10967720" cy="1383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sz="2800" b="0">
                <a:latin typeface="+mn-ea"/>
                <a:cs typeface="+mn-ea"/>
              </a:rPr>
              <a:t>在操作序列</a:t>
            </a:r>
            <a:r>
              <a:rPr lang="en-US" sz="2800" b="0">
                <a:latin typeface="+mn-ea"/>
                <a:cs typeface="+mn-ea"/>
              </a:rPr>
              <a:t>push(1)</a:t>
            </a:r>
            <a:r>
              <a:rPr lang="zh-CN" sz="2800" b="0">
                <a:latin typeface="+mn-ea"/>
                <a:cs typeface="+mn-ea"/>
              </a:rPr>
              <a:t>、</a:t>
            </a:r>
            <a:r>
              <a:rPr lang="en-US" sz="2800" b="0">
                <a:latin typeface="+mn-ea"/>
                <a:cs typeface="+mn-ea"/>
              </a:rPr>
              <a:t>push(2)</a:t>
            </a:r>
            <a:r>
              <a:rPr lang="zh-CN" sz="2800" b="0">
                <a:latin typeface="+mn-ea"/>
                <a:cs typeface="+mn-ea"/>
              </a:rPr>
              <a:t>、</a:t>
            </a:r>
            <a:r>
              <a:rPr lang="en-US" sz="2800" b="0">
                <a:latin typeface="+mn-ea"/>
                <a:cs typeface="+mn-ea"/>
              </a:rPr>
              <a:t>pop</a:t>
            </a:r>
            <a:r>
              <a:rPr lang="zh-CN" sz="2800" b="0">
                <a:latin typeface="+mn-ea"/>
                <a:cs typeface="+mn-ea"/>
              </a:rPr>
              <a:t>、</a:t>
            </a:r>
            <a:r>
              <a:rPr lang="en-US" sz="2800" b="0">
                <a:latin typeface="+mn-ea"/>
                <a:cs typeface="+mn-ea"/>
              </a:rPr>
              <a:t>push(5)</a:t>
            </a:r>
            <a:r>
              <a:rPr lang="zh-CN" sz="2800" b="0">
                <a:latin typeface="+mn-ea"/>
                <a:cs typeface="+mn-ea"/>
              </a:rPr>
              <a:t>、</a:t>
            </a:r>
            <a:r>
              <a:rPr lang="en-US" sz="2800" b="0">
                <a:latin typeface="+mn-ea"/>
                <a:cs typeface="+mn-ea"/>
              </a:rPr>
              <a:t>push(7)</a:t>
            </a:r>
            <a:r>
              <a:rPr lang="zh-CN" sz="2800" b="0">
                <a:latin typeface="+mn-ea"/>
                <a:cs typeface="+mn-ea"/>
              </a:rPr>
              <a:t>、</a:t>
            </a:r>
            <a:r>
              <a:rPr lang="en-US" sz="2800" b="0">
                <a:latin typeface="+mn-ea"/>
                <a:cs typeface="+mn-ea"/>
              </a:rPr>
              <a:t>pop</a:t>
            </a:r>
            <a:r>
              <a:rPr lang="zh-CN" sz="2800" b="0">
                <a:latin typeface="+mn-ea"/>
                <a:cs typeface="+mn-ea"/>
              </a:rPr>
              <a:t>、</a:t>
            </a:r>
            <a:r>
              <a:rPr lang="en-US" sz="2800" b="0">
                <a:latin typeface="+mn-ea"/>
                <a:cs typeface="+mn-ea"/>
              </a:rPr>
              <a:t>push(6)</a:t>
            </a:r>
            <a:r>
              <a:rPr lang="zh-CN" sz="2800" b="0">
                <a:latin typeface="+mn-ea"/>
                <a:cs typeface="+mn-ea"/>
              </a:rPr>
              <a:t>之后，栈顶元素和栈底元素分别是什么？（</a:t>
            </a:r>
            <a:r>
              <a:rPr lang="en-US" sz="2800" b="0">
                <a:latin typeface="+mn-ea"/>
                <a:cs typeface="+mn-ea"/>
              </a:rPr>
              <a:t>push(k)</a:t>
            </a:r>
            <a:r>
              <a:rPr lang="zh-CN" sz="2800" b="0">
                <a:latin typeface="+mn-ea"/>
                <a:cs typeface="+mn-ea"/>
              </a:rPr>
              <a:t>表示整数</a:t>
            </a:r>
            <a:r>
              <a:rPr lang="en-US" sz="2800" b="0">
                <a:latin typeface="+mn-ea"/>
                <a:cs typeface="+mn-ea"/>
              </a:rPr>
              <a:t>k</a:t>
            </a:r>
            <a:r>
              <a:rPr lang="zh-CN" sz="2800" b="0">
                <a:latin typeface="+mn-ea"/>
                <a:cs typeface="+mn-ea"/>
              </a:rPr>
              <a:t>入栈，</a:t>
            </a:r>
            <a:r>
              <a:rPr lang="en-US" sz="2800" b="0">
                <a:latin typeface="+mn-ea"/>
                <a:cs typeface="+mn-ea"/>
              </a:rPr>
              <a:t>pop</a:t>
            </a:r>
            <a:r>
              <a:rPr lang="zh-CN" sz="2800" b="0">
                <a:latin typeface="+mn-ea"/>
                <a:cs typeface="+mn-ea"/>
              </a:rPr>
              <a:t>表示栈顶元素出栈。</a:t>
            </a:r>
            <a:endParaRPr lang="zh-CN" altLang="en-US">
              <a:latin typeface="+mn-ea"/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33730" y="2548890"/>
            <a:ext cx="109670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栈顶元素为6，栈底元素为1。其执行过程如图</a:t>
            </a:r>
            <a:r>
              <a:rPr lang="en-US" altLang="zh-CN" sz="2800"/>
              <a:t>3-6</a:t>
            </a:r>
            <a:r>
              <a:rPr lang="zh-CN" altLang="en-US" sz="2800"/>
              <a:t>所示。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54405" y="3037840"/>
            <a:ext cx="9114155" cy="33750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633095" y="767080"/>
            <a:ext cx="10967720" cy="181483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2800" b="0">
                <a:latin typeface="+mn-ea"/>
                <a:cs typeface="+mn-ea"/>
              </a:rPr>
              <a:t>在操作序列EnQueue(1)、 EnQueue(3)、 DeQueue、EnQueue(5)、EnQueue(7)、DeQueue、EnQueue(9)之后，队头元素和队尾元素分别是什么？（EnQueue(k)表示整数k入队，DeQueue表示队头元素出队）。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33730" y="2548890"/>
            <a:ext cx="109670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队头元素为5，队尾元素为9。其执行过程如图3-7所示。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3895" y="3299460"/>
            <a:ext cx="11026140" cy="20612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633095" y="767080"/>
            <a:ext cx="10967720" cy="9531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2800" b="0">
                <a:latin typeface="+mn-ea"/>
                <a:cs typeface="+mn-ea"/>
              </a:rPr>
              <a:t>已知二叉树的中序和后序序列分别为CBEDAFIGH和CEDBIFHGA，试构造该二叉树。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33730" y="1836420"/>
            <a:ext cx="109670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二叉树的构造过程如图5-10 所示。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44905" y="2600325"/>
            <a:ext cx="8622665" cy="32550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633095" y="767080"/>
            <a:ext cx="10967720" cy="9531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2800" b="0">
                <a:latin typeface="+mn-ea"/>
                <a:cs typeface="+mn-ea"/>
              </a:rPr>
              <a:t>对给定的一组权值W＝（5，2，9，11，8，3，7），试构造相应的哈夫曼树，并计算它的带权路径长度。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633730" y="1836420"/>
            <a:ext cx="1096708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构造的哈夫曼树如图5-11所示。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8670" y="2496820"/>
            <a:ext cx="6725285" cy="380936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297170" y="2930525"/>
            <a:ext cx="594106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树的带权路径长度为：</a:t>
            </a:r>
          </a:p>
          <a:p>
            <a:r>
              <a:rPr lang="zh-CN" altLang="en-US" sz="2800"/>
              <a:t>2×4+3×4+5×3+7×3+8×3+9×2+11×2=120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6" grpId="0"/>
      <p:bldP spid="6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62940" y="842010"/>
            <a:ext cx="10136505" cy="608965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树转换为二叉树</a:t>
            </a:r>
            <a:endParaRPr lang="zh-CN" altLang="en-US" sz="2800">
              <a:latin typeface="+mn-ea"/>
              <a:ea typeface="+mn-ea"/>
              <a:cs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1293818" y="2143460"/>
            <a:ext cx="3362326" cy="2570164"/>
            <a:chOff x="7787329" y="2893821"/>
            <a:chExt cx="3362326" cy="2570164"/>
          </a:xfrm>
          <a:solidFill>
            <a:srgbClr val="B4B4BE"/>
          </a:solidFill>
        </p:grpSpPr>
        <p:sp>
          <p:nvSpPr>
            <p:cNvPr id="137" name="Oval 105"/>
            <p:cNvSpPr>
              <a:spLocks noChangeArrowheads="1"/>
            </p:cNvSpPr>
            <p:nvPr/>
          </p:nvSpPr>
          <p:spPr bwMode="auto">
            <a:xfrm>
              <a:off x="9649149" y="3955224"/>
              <a:ext cx="468313" cy="468313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6000" tIns="18000" rIns="36000" bIns="36000"/>
            <a:lstStyle/>
            <a:p>
              <a:pPr algn="ctr">
                <a:lnSpc>
                  <a:spcPts val="2600"/>
                </a:lnSpc>
              </a:pPr>
              <a:r>
                <a:rPr lang="en-US" altLang="zh-CN" sz="2400" b="1" i="1">
                  <a:solidFill>
                    <a:srgbClr val="404040"/>
                  </a:solidFill>
                  <a:latin typeface="Times New Roman" panose="02020603050405020304" charset="0"/>
                </a:rPr>
                <a:t>C</a:t>
              </a:r>
            </a:p>
          </p:txBody>
        </p:sp>
        <p:sp>
          <p:nvSpPr>
            <p:cNvPr id="138" name="Oval 106"/>
            <p:cNvSpPr>
              <a:spLocks noChangeArrowheads="1"/>
            </p:cNvSpPr>
            <p:nvPr/>
          </p:nvSpPr>
          <p:spPr bwMode="auto">
            <a:xfrm>
              <a:off x="8475987" y="3942524"/>
              <a:ext cx="468313" cy="468313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6000" tIns="18000" rIns="36000" bIns="36000"/>
            <a:lstStyle/>
            <a:p>
              <a:pPr algn="ctr">
                <a:lnSpc>
                  <a:spcPts val="2600"/>
                </a:lnSpc>
              </a:pPr>
              <a:r>
                <a:rPr lang="en-US" altLang="zh-CN" sz="2400" b="1" i="1">
                  <a:solidFill>
                    <a:srgbClr val="404040"/>
                  </a:solidFill>
                  <a:latin typeface="Times New Roman" panose="02020603050405020304" charset="0"/>
                </a:rPr>
                <a:t>B</a:t>
              </a:r>
            </a:p>
          </p:txBody>
        </p:sp>
        <p:sp>
          <p:nvSpPr>
            <p:cNvPr id="140" name="Oval 108"/>
            <p:cNvSpPr>
              <a:spLocks noChangeArrowheads="1"/>
            </p:cNvSpPr>
            <p:nvPr/>
          </p:nvSpPr>
          <p:spPr bwMode="auto">
            <a:xfrm>
              <a:off x="9090984" y="4974399"/>
              <a:ext cx="468313" cy="468313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6000" tIns="18000" rIns="36000" bIns="36000"/>
            <a:lstStyle/>
            <a:p>
              <a:pPr algn="ctr">
                <a:lnSpc>
                  <a:spcPts val="2600"/>
                </a:lnSpc>
              </a:pPr>
              <a:r>
                <a:rPr lang="en-US" altLang="zh-CN" sz="2400" b="1" i="1">
                  <a:solidFill>
                    <a:srgbClr val="404040"/>
                  </a:solidFill>
                  <a:latin typeface="Times New Roman" panose="02020603050405020304" charset="0"/>
                </a:rPr>
                <a:t>F</a:t>
              </a:r>
            </a:p>
          </p:txBody>
        </p:sp>
        <p:sp>
          <p:nvSpPr>
            <p:cNvPr id="142" name="Oval 110"/>
            <p:cNvSpPr>
              <a:spLocks noChangeArrowheads="1"/>
            </p:cNvSpPr>
            <p:nvPr/>
          </p:nvSpPr>
          <p:spPr bwMode="auto">
            <a:xfrm>
              <a:off x="7787329" y="4974399"/>
              <a:ext cx="468313" cy="468313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6000" tIns="18000" rIns="36000" bIns="36000"/>
            <a:lstStyle/>
            <a:p>
              <a:pPr algn="ctr">
                <a:lnSpc>
                  <a:spcPts val="2600"/>
                </a:lnSpc>
              </a:pPr>
              <a:r>
                <a:rPr lang="en-US" altLang="zh-CN" sz="2400" b="1" i="1" dirty="0" smtClean="0">
                  <a:solidFill>
                    <a:srgbClr val="404040"/>
                  </a:solidFill>
                  <a:latin typeface="Times New Roman" panose="02020603050405020304" charset="0"/>
                </a:rPr>
                <a:t>E</a:t>
              </a:r>
              <a:endParaRPr lang="en-US" altLang="zh-CN" sz="2400" b="1" i="1" dirty="0">
                <a:solidFill>
                  <a:srgbClr val="404040"/>
                </a:solidFill>
                <a:latin typeface="Times New Roman" panose="02020603050405020304" charset="0"/>
              </a:endParaRPr>
            </a:p>
          </p:txBody>
        </p:sp>
        <p:sp>
          <p:nvSpPr>
            <p:cNvPr id="147" name="Line 118"/>
            <p:cNvSpPr>
              <a:spLocks noChangeShapeType="1"/>
            </p:cNvSpPr>
            <p:nvPr/>
          </p:nvSpPr>
          <p:spPr bwMode="auto">
            <a:xfrm>
              <a:off x="8842699" y="4347336"/>
              <a:ext cx="354013" cy="650875"/>
            </a:xfrm>
            <a:prstGeom prst="lin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lnSpc>
                  <a:spcPts val="2600"/>
                </a:lnSpc>
              </a:pPr>
              <a:endParaRPr lang="zh-CN" altLang="en-US" sz="2400" i="1">
                <a:solidFill>
                  <a:srgbClr val="404040"/>
                </a:solidFill>
              </a:endParaRPr>
            </a:p>
          </p:txBody>
        </p:sp>
        <p:sp>
          <p:nvSpPr>
            <p:cNvPr id="149" name="Line 120"/>
            <p:cNvSpPr>
              <a:spLocks noChangeShapeType="1"/>
            </p:cNvSpPr>
            <p:nvPr/>
          </p:nvSpPr>
          <p:spPr bwMode="auto">
            <a:xfrm flipH="1">
              <a:off x="8134674" y="4334636"/>
              <a:ext cx="412750" cy="649288"/>
            </a:xfrm>
            <a:prstGeom prst="lin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lnSpc>
                  <a:spcPts val="2600"/>
                </a:lnSpc>
              </a:pPr>
              <a:endParaRPr lang="zh-CN" altLang="en-US" sz="2400" i="1">
                <a:solidFill>
                  <a:srgbClr val="404040"/>
                </a:solidFill>
              </a:endParaRPr>
            </a:p>
          </p:txBody>
        </p:sp>
        <p:sp>
          <p:nvSpPr>
            <p:cNvPr id="151" name="Oval 109"/>
            <p:cNvSpPr>
              <a:spLocks noChangeArrowheads="1"/>
            </p:cNvSpPr>
            <p:nvPr/>
          </p:nvSpPr>
          <p:spPr bwMode="auto">
            <a:xfrm>
              <a:off x="10681342" y="3976497"/>
              <a:ext cx="468313" cy="468313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6000" tIns="18000" rIns="36000" bIns="36000"/>
            <a:lstStyle/>
            <a:p>
              <a:pPr algn="ctr">
                <a:lnSpc>
                  <a:spcPts val="2600"/>
                </a:lnSpc>
              </a:pPr>
              <a:r>
                <a:rPr lang="en-US" altLang="zh-CN" sz="2400" b="1" i="1" dirty="0" smtClean="0">
                  <a:solidFill>
                    <a:srgbClr val="404040"/>
                  </a:solidFill>
                  <a:latin typeface="Times New Roman" panose="02020603050405020304" charset="0"/>
                </a:rPr>
                <a:t>D</a:t>
              </a:r>
              <a:endParaRPr lang="en-US" altLang="zh-CN" sz="2400" b="1" i="1" dirty="0">
                <a:solidFill>
                  <a:srgbClr val="404040"/>
                </a:solidFill>
                <a:latin typeface="Times New Roman" panose="02020603050405020304" charset="0"/>
              </a:endParaRPr>
            </a:p>
          </p:txBody>
        </p:sp>
        <p:sp>
          <p:nvSpPr>
            <p:cNvPr id="152" name="Oval 111"/>
            <p:cNvSpPr>
              <a:spLocks noChangeArrowheads="1"/>
            </p:cNvSpPr>
            <p:nvPr/>
          </p:nvSpPr>
          <p:spPr bwMode="auto">
            <a:xfrm>
              <a:off x="10223507" y="4995672"/>
              <a:ext cx="468313" cy="468313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6000" tIns="18000" rIns="36000" bIns="36000"/>
            <a:lstStyle/>
            <a:p>
              <a:pPr algn="ctr">
                <a:lnSpc>
                  <a:spcPts val="2600"/>
                </a:lnSpc>
              </a:pPr>
              <a:r>
                <a:rPr lang="en-US" altLang="zh-CN" sz="2400" b="1" i="1" dirty="0" smtClean="0">
                  <a:solidFill>
                    <a:srgbClr val="404040"/>
                  </a:solidFill>
                  <a:latin typeface="Times New Roman" panose="02020603050405020304" charset="0"/>
                </a:rPr>
                <a:t>G</a:t>
              </a:r>
              <a:endParaRPr lang="en-US" altLang="zh-CN" sz="2400" b="1" i="1" dirty="0">
                <a:solidFill>
                  <a:srgbClr val="404040"/>
                </a:solidFill>
                <a:latin typeface="Times New Roman" panose="02020603050405020304" charset="0"/>
              </a:endParaRPr>
            </a:p>
          </p:txBody>
        </p:sp>
        <p:sp>
          <p:nvSpPr>
            <p:cNvPr id="155" name="Line 123"/>
            <p:cNvSpPr>
              <a:spLocks noChangeShapeType="1"/>
            </p:cNvSpPr>
            <p:nvPr/>
          </p:nvSpPr>
          <p:spPr bwMode="auto">
            <a:xfrm flipH="1">
              <a:off x="10507669" y="4395279"/>
              <a:ext cx="296863" cy="603250"/>
            </a:xfrm>
            <a:prstGeom prst="lin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lnSpc>
                  <a:spcPts val="2600"/>
                </a:lnSpc>
              </a:pPr>
              <a:endParaRPr lang="zh-CN" altLang="en-US" sz="2400" i="1">
                <a:solidFill>
                  <a:srgbClr val="404040"/>
                </a:solidFill>
              </a:endParaRPr>
            </a:p>
          </p:txBody>
        </p:sp>
        <p:sp>
          <p:nvSpPr>
            <p:cNvPr id="157" name="Oval 45"/>
            <p:cNvSpPr>
              <a:spLocks noChangeArrowheads="1"/>
            </p:cNvSpPr>
            <p:nvPr/>
          </p:nvSpPr>
          <p:spPr bwMode="auto">
            <a:xfrm>
              <a:off x="9632639" y="2893821"/>
              <a:ext cx="468313" cy="468313"/>
            </a:xfrm>
            <a:prstGeom prst="ellips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36000" tIns="18000" rIns="36000" bIns="36000"/>
            <a:lstStyle/>
            <a:p>
              <a:pPr algn="ctr">
                <a:lnSpc>
                  <a:spcPts val="2600"/>
                </a:lnSpc>
              </a:pPr>
              <a:r>
                <a:rPr lang="en-US" altLang="zh-CN" sz="2400" b="1" i="1" dirty="0">
                  <a:solidFill>
                    <a:srgbClr val="404040"/>
                  </a:solidFill>
                  <a:latin typeface="Times New Roman" panose="02020603050405020304" charset="0"/>
                </a:rPr>
                <a:t>A</a:t>
              </a:r>
            </a:p>
          </p:txBody>
        </p:sp>
        <p:sp>
          <p:nvSpPr>
            <p:cNvPr id="158" name="Line 113"/>
            <p:cNvSpPr>
              <a:spLocks noChangeShapeType="1"/>
            </p:cNvSpPr>
            <p:nvPr/>
          </p:nvSpPr>
          <p:spPr bwMode="auto">
            <a:xfrm flipH="1">
              <a:off x="8827459" y="3257992"/>
              <a:ext cx="836928" cy="743541"/>
            </a:xfrm>
            <a:prstGeom prst="lin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algn="ctr">
                <a:lnSpc>
                  <a:spcPts val="2600"/>
                </a:lnSpc>
              </a:pPr>
              <a:endParaRPr lang="zh-CN" altLang="en-US" sz="2400" i="1">
                <a:solidFill>
                  <a:srgbClr val="404040"/>
                </a:solidFill>
              </a:endParaRPr>
            </a:p>
          </p:txBody>
        </p:sp>
        <p:sp>
          <p:nvSpPr>
            <p:cNvPr id="159" name="Line 115"/>
            <p:cNvSpPr>
              <a:spLocks noChangeShapeType="1"/>
            </p:cNvSpPr>
            <p:nvPr/>
          </p:nvSpPr>
          <p:spPr bwMode="auto">
            <a:xfrm>
              <a:off x="9870131" y="3349434"/>
              <a:ext cx="0" cy="590550"/>
            </a:xfrm>
            <a:prstGeom prst="lin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lnSpc>
                  <a:spcPts val="2600"/>
                </a:lnSpc>
              </a:pPr>
              <a:endParaRPr lang="zh-CN" altLang="en-US" sz="2400" i="1">
                <a:solidFill>
                  <a:srgbClr val="404040"/>
                </a:solidFill>
              </a:endParaRPr>
            </a:p>
          </p:txBody>
        </p:sp>
        <p:sp>
          <p:nvSpPr>
            <p:cNvPr id="161" name="Line 113"/>
            <p:cNvSpPr>
              <a:spLocks noChangeShapeType="1"/>
            </p:cNvSpPr>
            <p:nvPr/>
          </p:nvSpPr>
          <p:spPr bwMode="auto">
            <a:xfrm flipH="1" flipV="1">
              <a:off x="10071741" y="3233120"/>
              <a:ext cx="836928" cy="743541"/>
            </a:xfrm>
            <a:prstGeom prst="line">
              <a:avLst/>
            </a:prstGeom>
            <a:grpFill/>
            <a:ln w="28575">
              <a:solidFill>
                <a:srgbClr val="507D7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dist="107763" dir="189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pPr algn="ctr">
                <a:lnSpc>
                  <a:spcPts val="2600"/>
                </a:lnSpc>
              </a:pPr>
              <a:endParaRPr lang="zh-CN" altLang="en-US" sz="2400" i="1">
                <a:solidFill>
                  <a:srgbClr val="404040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625397" y="2067895"/>
            <a:ext cx="1965687" cy="4305225"/>
            <a:chOff x="5068010" y="1434676"/>
            <a:chExt cx="1965687" cy="4305225"/>
          </a:xfrm>
        </p:grpSpPr>
        <p:sp>
          <p:nvSpPr>
            <p:cNvPr id="162" name="Line 25"/>
            <p:cNvSpPr>
              <a:spLocks noChangeShapeType="1"/>
            </p:cNvSpPr>
            <p:nvPr/>
          </p:nvSpPr>
          <p:spPr bwMode="auto">
            <a:xfrm flipH="1">
              <a:off x="5924465" y="1755986"/>
              <a:ext cx="511175" cy="576000"/>
            </a:xfrm>
            <a:prstGeom prst="line">
              <a:avLst/>
            </a:prstGeom>
            <a:noFill/>
            <a:ln w="38100">
              <a:solidFill>
                <a:srgbClr val="285A3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64" name="Line 27"/>
            <p:cNvSpPr>
              <a:spLocks noChangeShapeType="1"/>
            </p:cNvSpPr>
            <p:nvPr/>
          </p:nvSpPr>
          <p:spPr bwMode="auto">
            <a:xfrm flipH="1">
              <a:off x="5302166" y="2651970"/>
              <a:ext cx="360000" cy="648000"/>
            </a:xfrm>
            <a:prstGeom prst="line">
              <a:avLst/>
            </a:prstGeom>
            <a:noFill/>
            <a:ln w="38100">
              <a:solidFill>
                <a:srgbClr val="285A3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65" name="Line 28"/>
            <p:cNvSpPr>
              <a:spLocks noChangeShapeType="1"/>
            </p:cNvSpPr>
            <p:nvPr/>
          </p:nvSpPr>
          <p:spPr bwMode="auto">
            <a:xfrm>
              <a:off x="5362175" y="3732106"/>
              <a:ext cx="315232" cy="561077"/>
            </a:xfrm>
            <a:prstGeom prst="line">
              <a:avLst/>
            </a:prstGeom>
            <a:noFill/>
            <a:ln w="38100">
              <a:solidFill>
                <a:srgbClr val="285A3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66" name="Line 29"/>
            <p:cNvSpPr>
              <a:spLocks noChangeShapeType="1"/>
            </p:cNvSpPr>
            <p:nvPr/>
          </p:nvSpPr>
          <p:spPr bwMode="auto">
            <a:xfrm flipH="1">
              <a:off x="6450893" y="4679091"/>
              <a:ext cx="288000" cy="648000"/>
            </a:xfrm>
            <a:prstGeom prst="line">
              <a:avLst/>
            </a:prstGeom>
            <a:noFill/>
            <a:ln w="38100">
              <a:solidFill>
                <a:srgbClr val="285A3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67" name="Line 30"/>
            <p:cNvSpPr>
              <a:spLocks noChangeShapeType="1"/>
            </p:cNvSpPr>
            <p:nvPr/>
          </p:nvSpPr>
          <p:spPr bwMode="auto">
            <a:xfrm>
              <a:off x="6466133" y="3697863"/>
              <a:ext cx="288000" cy="576000"/>
            </a:xfrm>
            <a:prstGeom prst="line">
              <a:avLst/>
            </a:prstGeom>
            <a:noFill/>
            <a:ln w="38100">
              <a:solidFill>
                <a:srgbClr val="285A3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  <p:sp>
          <p:nvSpPr>
            <p:cNvPr id="168" name="Oval 37"/>
            <p:cNvSpPr>
              <a:spLocks noChangeArrowheads="1"/>
            </p:cNvSpPr>
            <p:nvPr/>
          </p:nvSpPr>
          <p:spPr bwMode="auto">
            <a:xfrm>
              <a:off x="6415956" y="1434676"/>
              <a:ext cx="432000" cy="432000"/>
            </a:xfrm>
            <a:prstGeom prst="ellipse">
              <a:avLst/>
            </a:prstGeom>
            <a:noFill/>
            <a:ln w="28575">
              <a:solidFill>
                <a:srgbClr val="5A32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 smtClean="0">
                  <a:latin typeface="Times New Roman" panose="02020603050405020304" charset="0"/>
                  <a:cs typeface="Times New Roman" panose="02020603050405020304" charset="0"/>
                </a:rPr>
                <a:t>A</a:t>
              </a:r>
              <a:endParaRPr lang="zh-CN" altLang="en-US" sz="2400" i="1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69" name="Oval 37"/>
            <p:cNvSpPr>
              <a:spLocks noChangeArrowheads="1"/>
            </p:cNvSpPr>
            <p:nvPr/>
          </p:nvSpPr>
          <p:spPr bwMode="auto">
            <a:xfrm>
              <a:off x="6118145" y="3305140"/>
              <a:ext cx="432000" cy="432000"/>
            </a:xfrm>
            <a:prstGeom prst="ellipse">
              <a:avLst/>
            </a:prstGeom>
            <a:noFill/>
            <a:ln w="28575">
              <a:solidFill>
                <a:srgbClr val="5A32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charset="0"/>
                  <a:cs typeface="Times New Roman" panose="02020603050405020304" charset="0"/>
                </a:rPr>
                <a:t>C</a:t>
              </a:r>
              <a:endParaRPr lang="zh-CN" altLang="en-US" sz="2400" i="1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70" name="Oval 37"/>
            <p:cNvSpPr>
              <a:spLocks noChangeArrowheads="1"/>
            </p:cNvSpPr>
            <p:nvPr/>
          </p:nvSpPr>
          <p:spPr bwMode="auto">
            <a:xfrm>
              <a:off x="5560611" y="2250967"/>
              <a:ext cx="432000" cy="432000"/>
            </a:xfrm>
            <a:prstGeom prst="ellipse">
              <a:avLst/>
            </a:prstGeom>
            <a:noFill/>
            <a:ln w="28575">
              <a:solidFill>
                <a:srgbClr val="5A32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charset="0"/>
                  <a:cs typeface="Times New Roman" panose="02020603050405020304" charset="0"/>
                </a:rPr>
                <a:t>B</a:t>
              </a:r>
              <a:endParaRPr lang="zh-CN" altLang="en-US" sz="2400" i="1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71" name="Oval 37"/>
            <p:cNvSpPr>
              <a:spLocks noChangeArrowheads="1"/>
            </p:cNvSpPr>
            <p:nvPr/>
          </p:nvSpPr>
          <p:spPr bwMode="auto">
            <a:xfrm>
              <a:off x="5068010" y="3305140"/>
              <a:ext cx="432000" cy="432000"/>
            </a:xfrm>
            <a:prstGeom prst="ellipse">
              <a:avLst/>
            </a:prstGeom>
            <a:noFill/>
            <a:ln w="28575">
              <a:solidFill>
                <a:srgbClr val="5A32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charset="0"/>
                  <a:cs typeface="Times New Roman" panose="02020603050405020304" charset="0"/>
                </a:rPr>
                <a:t>E</a:t>
              </a:r>
              <a:endParaRPr lang="zh-CN" altLang="en-US" sz="2400" i="1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72" name="Oval 37"/>
            <p:cNvSpPr>
              <a:spLocks noChangeArrowheads="1"/>
            </p:cNvSpPr>
            <p:nvPr/>
          </p:nvSpPr>
          <p:spPr bwMode="auto">
            <a:xfrm>
              <a:off x="6182923" y="5307901"/>
              <a:ext cx="432000" cy="432000"/>
            </a:xfrm>
            <a:prstGeom prst="ellipse">
              <a:avLst/>
            </a:prstGeom>
            <a:noFill/>
            <a:ln w="28575">
              <a:solidFill>
                <a:srgbClr val="5A32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charset="0"/>
                  <a:cs typeface="Times New Roman" panose="02020603050405020304" charset="0"/>
                </a:rPr>
                <a:t>G</a:t>
              </a:r>
              <a:endParaRPr lang="zh-CN" altLang="en-US" sz="2400" i="1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73" name="Oval 37"/>
            <p:cNvSpPr>
              <a:spLocks noChangeArrowheads="1"/>
            </p:cNvSpPr>
            <p:nvPr/>
          </p:nvSpPr>
          <p:spPr bwMode="auto">
            <a:xfrm>
              <a:off x="6601697" y="4277571"/>
              <a:ext cx="432000" cy="432000"/>
            </a:xfrm>
            <a:prstGeom prst="ellipse">
              <a:avLst/>
            </a:prstGeom>
            <a:noFill/>
            <a:ln w="28575">
              <a:solidFill>
                <a:srgbClr val="5A32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charset="0"/>
                  <a:cs typeface="Times New Roman" panose="02020603050405020304" charset="0"/>
                </a:rPr>
                <a:t>D</a:t>
              </a:r>
              <a:endParaRPr lang="zh-CN" altLang="en-US" sz="2400" i="1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74" name="Oval 37"/>
            <p:cNvSpPr>
              <a:spLocks noChangeArrowheads="1"/>
            </p:cNvSpPr>
            <p:nvPr/>
          </p:nvSpPr>
          <p:spPr bwMode="auto">
            <a:xfrm>
              <a:off x="5567278" y="4277571"/>
              <a:ext cx="432000" cy="432000"/>
            </a:xfrm>
            <a:prstGeom prst="ellipse">
              <a:avLst/>
            </a:prstGeom>
            <a:noFill/>
            <a:ln w="28575">
              <a:solidFill>
                <a:srgbClr val="5A327D"/>
              </a:solidFill>
              <a:round/>
            </a:ln>
            <a:effectLst/>
          </p:spPr>
          <p:txBody>
            <a:bodyPr lIns="0" tIns="0" rIns="0" bIns="0"/>
            <a:lstStyle/>
            <a:p>
              <a:pPr algn="ctr">
                <a:lnSpc>
                  <a:spcPts val="2500"/>
                </a:lnSpc>
              </a:pPr>
              <a:r>
                <a:rPr lang="en-US" altLang="zh-CN" sz="2400" i="1" dirty="0">
                  <a:latin typeface="Times New Roman" panose="02020603050405020304" charset="0"/>
                  <a:cs typeface="Times New Roman" panose="02020603050405020304" charset="0"/>
                </a:rPr>
                <a:t>F</a:t>
              </a:r>
              <a:endParaRPr lang="zh-CN" altLang="en-US" sz="2400" i="1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76" name="Line 27"/>
            <p:cNvSpPr>
              <a:spLocks noChangeShapeType="1"/>
            </p:cNvSpPr>
            <p:nvPr/>
          </p:nvSpPr>
          <p:spPr bwMode="auto">
            <a:xfrm flipH="1" flipV="1">
              <a:off x="5896455" y="2634408"/>
              <a:ext cx="360000" cy="684000"/>
            </a:xfrm>
            <a:prstGeom prst="line">
              <a:avLst/>
            </a:prstGeom>
            <a:noFill/>
            <a:ln w="38100">
              <a:solidFill>
                <a:srgbClr val="285A32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>
                <a:lnSpc>
                  <a:spcPts val="2500"/>
                </a:lnSpc>
              </a:pPr>
              <a:endParaRPr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62940" y="842010"/>
            <a:ext cx="10136505" cy="608965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 dirty="0" smtClean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二叉树转换为树或森林</a:t>
            </a:r>
            <a:endParaRPr lang="zh-CN" altLang="en-US" sz="2800">
              <a:latin typeface="+mn-ea"/>
              <a:ea typeface="+mn-ea"/>
              <a:cs typeface="+mn-ea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1454150" y="1688465"/>
            <a:ext cx="2682240" cy="4591050"/>
            <a:chOff x="2290" y="2659"/>
            <a:chExt cx="4224" cy="7230"/>
          </a:xfrm>
        </p:grpSpPr>
        <p:grpSp>
          <p:nvGrpSpPr>
            <p:cNvPr id="10" name="组合 9"/>
            <p:cNvGrpSpPr/>
            <p:nvPr/>
          </p:nvGrpSpPr>
          <p:grpSpPr>
            <a:xfrm>
              <a:off x="2290" y="2659"/>
              <a:ext cx="1827" cy="1989"/>
              <a:chOff x="7650334" y="943496"/>
              <a:chExt cx="1160400" cy="1263098"/>
            </a:xfrm>
            <a:solidFill>
              <a:srgbClr val="B4B4BE"/>
            </a:solidFill>
          </p:grpSpPr>
          <p:sp>
            <p:nvSpPr>
              <p:cNvPr id="96" name="Oval 37"/>
              <p:cNvSpPr>
                <a:spLocks noChangeArrowheads="1"/>
              </p:cNvSpPr>
              <p:nvPr/>
            </p:nvSpPr>
            <p:spPr bwMode="auto">
              <a:xfrm>
                <a:off x="8378734" y="943496"/>
                <a:ext cx="432000" cy="432000"/>
              </a:xfrm>
              <a:prstGeom prst="ellipse">
                <a:avLst/>
              </a:prstGeom>
              <a:grpFill/>
              <a:ln w="28575">
                <a:solidFill>
                  <a:srgbClr val="507D7D"/>
                </a:solidFill>
                <a:round/>
              </a:ln>
              <a:effectLst/>
            </p:spPr>
            <p:txBody>
              <a:bodyPr lIns="0" tIns="0" rIns="0" bIns="0"/>
              <a:lstStyle/>
              <a:p>
                <a:pPr algn="ctr">
                  <a:lnSpc>
                    <a:spcPts val="2500"/>
                  </a:lnSpc>
                </a:pPr>
                <a:r>
                  <a:rPr lang="en-US" altLang="zh-CN" sz="2400" i="1" dirty="0" smtClean="0">
                    <a:solidFill>
                      <a:srgbClr val="40404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A</a:t>
                </a:r>
                <a:endParaRPr lang="zh-CN" altLang="en-US" sz="2400" i="1" dirty="0">
                  <a:solidFill>
                    <a:srgbClr val="40404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97" name="Freeform 44"/>
              <p:cNvSpPr/>
              <p:nvPr/>
            </p:nvSpPr>
            <p:spPr bwMode="auto">
              <a:xfrm>
                <a:off x="8021374" y="1329775"/>
                <a:ext cx="470880" cy="513123"/>
              </a:xfrm>
              <a:custGeom>
                <a:avLst/>
                <a:gdLst>
                  <a:gd name="T0" fmla="*/ 259 w 259"/>
                  <a:gd name="T1" fmla="*/ 0 h 421"/>
                  <a:gd name="T2" fmla="*/ 0 w 259"/>
                  <a:gd name="T3" fmla="*/ 421 h 4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59" h="421">
                    <a:moveTo>
                      <a:pt x="259" y="0"/>
                    </a:moveTo>
                    <a:lnTo>
                      <a:pt x="0" y="421"/>
                    </a:lnTo>
                  </a:path>
                </a:pathLst>
              </a:custGeom>
              <a:grpFill/>
              <a:ln w="28575" cmpd="sng">
                <a:solidFill>
                  <a:srgbClr val="285A32"/>
                </a:solidFill>
                <a:round/>
              </a:ln>
            </p:spPr>
            <p:txBody>
              <a:bodyPr tIns="18000"/>
              <a:lstStyle/>
              <a:p>
                <a:pPr>
                  <a:lnSpc>
                    <a:spcPts val="2500"/>
                  </a:lnSpc>
                </a:pPr>
                <a:endParaRPr lang="zh-CN" altLang="en-US" sz="2400">
                  <a:solidFill>
                    <a:srgbClr val="404040"/>
                  </a:solidFill>
                </a:endParaRPr>
              </a:p>
            </p:txBody>
          </p:sp>
          <p:sp>
            <p:nvSpPr>
              <p:cNvPr id="98" name="Oval 37"/>
              <p:cNvSpPr>
                <a:spLocks noChangeArrowheads="1"/>
              </p:cNvSpPr>
              <p:nvPr/>
            </p:nvSpPr>
            <p:spPr bwMode="auto">
              <a:xfrm>
                <a:off x="7650334" y="1774594"/>
                <a:ext cx="432000" cy="432000"/>
              </a:xfrm>
              <a:prstGeom prst="ellipse">
                <a:avLst/>
              </a:prstGeom>
              <a:grpFill/>
              <a:ln w="28575">
                <a:solidFill>
                  <a:srgbClr val="507D7D"/>
                </a:solidFill>
                <a:round/>
              </a:ln>
              <a:effectLst/>
            </p:spPr>
            <p:txBody>
              <a:bodyPr lIns="0" tIns="0" rIns="0" bIns="0"/>
              <a:lstStyle/>
              <a:p>
                <a:pPr algn="ctr">
                  <a:lnSpc>
                    <a:spcPts val="2500"/>
                  </a:lnSpc>
                </a:pPr>
                <a:r>
                  <a:rPr lang="en-US" altLang="zh-CN" sz="2400" i="1" dirty="0" smtClean="0">
                    <a:solidFill>
                      <a:srgbClr val="40404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B</a:t>
                </a:r>
                <a:endParaRPr lang="zh-CN" altLang="en-US" sz="2400" i="1" dirty="0">
                  <a:solidFill>
                    <a:srgbClr val="40404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3572" y="3267"/>
              <a:ext cx="1712" cy="5329"/>
              <a:chOff x="8098644" y="1329775"/>
              <a:chExt cx="1086820" cy="3383722"/>
            </a:xfrm>
            <a:solidFill>
              <a:srgbClr val="B4B4BE"/>
            </a:solidFill>
          </p:grpSpPr>
          <p:sp>
            <p:nvSpPr>
              <p:cNvPr id="100" name="Oval 37"/>
              <p:cNvSpPr>
                <a:spLocks noChangeArrowheads="1"/>
              </p:cNvSpPr>
              <p:nvPr/>
            </p:nvSpPr>
            <p:spPr bwMode="auto">
              <a:xfrm>
                <a:off x="8703121" y="1807043"/>
                <a:ext cx="432000" cy="432000"/>
              </a:xfrm>
              <a:prstGeom prst="ellipse">
                <a:avLst/>
              </a:prstGeom>
              <a:grpFill/>
              <a:ln w="28575">
                <a:solidFill>
                  <a:srgbClr val="507D7D"/>
                </a:solidFill>
                <a:round/>
              </a:ln>
              <a:effectLst/>
            </p:spPr>
            <p:txBody>
              <a:bodyPr lIns="0" tIns="0" rIns="0" bIns="0"/>
              <a:lstStyle/>
              <a:p>
                <a:pPr algn="ctr">
                  <a:lnSpc>
                    <a:spcPts val="2500"/>
                  </a:lnSpc>
                </a:pPr>
                <a:r>
                  <a:rPr lang="en-US" altLang="zh-CN" sz="2400" i="1" dirty="0" smtClean="0">
                    <a:solidFill>
                      <a:srgbClr val="40404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</a:t>
                </a:r>
                <a:endParaRPr lang="zh-CN" altLang="en-US" sz="2400" i="1" dirty="0">
                  <a:solidFill>
                    <a:srgbClr val="40404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01" name="Freeform 44"/>
              <p:cNvSpPr/>
              <p:nvPr/>
            </p:nvSpPr>
            <p:spPr bwMode="auto">
              <a:xfrm>
                <a:off x="8429734" y="2213637"/>
                <a:ext cx="396000" cy="468000"/>
              </a:xfrm>
              <a:custGeom>
                <a:avLst/>
                <a:gdLst>
                  <a:gd name="T0" fmla="*/ 259 w 259"/>
                  <a:gd name="T1" fmla="*/ 0 h 421"/>
                  <a:gd name="T2" fmla="*/ 0 w 259"/>
                  <a:gd name="T3" fmla="*/ 421 h 4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59" h="421">
                    <a:moveTo>
                      <a:pt x="259" y="0"/>
                    </a:moveTo>
                    <a:lnTo>
                      <a:pt x="0" y="421"/>
                    </a:lnTo>
                  </a:path>
                </a:pathLst>
              </a:custGeom>
              <a:grpFill/>
              <a:ln w="28575" cmpd="sng">
                <a:solidFill>
                  <a:srgbClr val="285A32"/>
                </a:solidFill>
                <a:round/>
              </a:ln>
            </p:spPr>
            <p:txBody>
              <a:bodyPr tIns="18000"/>
              <a:lstStyle/>
              <a:p>
                <a:pPr>
                  <a:lnSpc>
                    <a:spcPts val="2500"/>
                  </a:lnSpc>
                </a:pPr>
                <a:endParaRPr lang="zh-CN" altLang="en-US" sz="2400">
                  <a:solidFill>
                    <a:srgbClr val="404040"/>
                  </a:solidFill>
                </a:endParaRPr>
              </a:p>
            </p:txBody>
          </p:sp>
          <p:sp>
            <p:nvSpPr>
              <p:cNvPr id="102" name="Oval 37"/>
              <p:cNvSpPr>
                <a:spLocks noChangeArrowheads="1"/>
              </p:cNvSpPr>
              <p:nvPr/>
            </p:nvSpPr>
            <p:spPr bwMode="auto">
              <a:xfrm>
                <a:off x="8098644" y="2643215"/>
                <a:ext cx="432000" cy="432000"/>
              </a:xfrm>
              <a:prstGeom prst="ellipse">
                <a:avLst/>
              </a:prstGeom>
              <a:grpFill/>
              <a:ln w="28575">
                <a:solidFill>
                  <a:srgbClr val="507D7D"/>
                </a:solidFill>
                <a:round/>
              </a:ln>
              <a:effectLst/>
            </p:spPr>
            <p:txBody>
              <a:bodyPr lIns="0" tIns="0" rIns="0" bIns="0"/>
              <a:lstStyle/>
              <a:p>
                <a:pPr algn="ctr">
                  <a:lnSpc>
                    <a:spcPts val="2500"/>
                  </a:lnSpc>
                </a:pPr>
                <a:r>
                  <a:rPr lang="en-US" altLang="zh-CN" sz="2400" i="1" dirty="0" smtClean="0">
                    <a:solidFill>
                      <a:srgbClr val="40404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D</a:t>
                </a:r>
                <a:endParaRPr lang="zh-CN" altLang="en-US" sz="2400" i="1" dirty="0">
                  <a:solidFill>
                    <a:srgbClr val="40404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03" name="Oval 37"/>
              <p:cNvSpPr>
                <a:spLocks noChangeArrowheads="1"/>
              </p:cNvSpPr>
              <p:nvPr/>
            </p:nvSpPr>
            <p:spPr bwMode="auto">
              <a:xfrm>
                <a:off x="8448283" y="3461149"/>
                <a:ext cx="432000" cy="432000"/>
              </a:xfrm>
              <a:prstGeom prst="ellipse">
                <a:avLst/>
              </a:prstGeom>
              <a:grpFill/>
              <a:ln w="28575">
                <a:solidFill>
                  <a:srgbClr val="507D7D"/>
                </a:solidFill>
                <a:round/>
              </a:ln>
              <a:effectLst/>
            </p:spPr>
            <p:txBody>
              <a:bodyPr lIns="0" tIns="0" rIns="0" bIns="0"/>
              <a:lstStyle/>
              <a:p>
                <a:pPr algn="ctr">
                  <a:lnSpc>
                    <a:spcPts val="2500"/>
                  </a:lnSpc>
                </a:pPr>
                <a:r>
                  <a:rPr lang="en-US" altLang="zh-CN" sz="2400" i="1" dirty="0" smtClean="0">
                    <a:solidFill>
                      <a:srgbClr val="40404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E</a:t>
                </a:r>
                <a:endParaRPr lang="zh-CN" altLang="en-US" sz="2400" i="1" dirty="0">
                  <a:solidFill>
                    <a:srgbClr val="40404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04" name="Freeform 44"/>
              <p:cNvSpPr/>
              <p:nvPr/>
            </p:nvSpPr>
            <p:spPr bwMode="auto">
              <a:xfrm flipV="1">
                <a:off x="8408724" y="3036120"/>
                <a:ext cx="216000" cy="432000"/>
              </a:xfrm>
              <a:custGeom>
                <a:avLst/>
                <a:gdLst>
                  <a:gd name="T0" fmla="*/ 259 w 259"/>
                  <a:gd name="T1" fmla="*/ 0 h 421"/>
                  <a:gd name="T2" fmla="*/ 0 w 259"/>
                  <a:gd name="T3" fmla="*/ 421 h 4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59" h="421">
                    <a:moveTo>
                      <a:pt x="259" y="0"/>
                    </a:moveTo>
                    <a:lnTo>
                      <a:pt x="0" y="421"/>
                    </a:lnTo>
                  </a:path>
                </a:pathLst>
              </a:custGeom>
              <a:grpFill/>
              <a:ln w="28575" cmpd="sng">
                <a:solidFill>
                  <a:srgbClr val="285A32"/>
                </a:solidFill>
                <a:round/>
              </a:ln>
            </p:spPr>
            <p:txBody>
              <a:bodyPr tIns="18000"/>
              <a:lstStyle/>
              <a:p>
                <a:pPr>
                  <a:lnSpc>
                    <a:spcPts val="2500"/>
                  </a:lnSpc>
                </a:pPr>
                <a:endParaRPr lang="zh-CN" altLang="en-US" sz="2400">
                  <a:solidFill>
                    <a:srgbClr val="404040"/>
                  </a:solidFill>
                </a:endParaRPr>
              </a:p>
            </p:txBody>
          </p:sp>
          <p:sp>
            <p:nvSpPr>
              <p:cNvPr id="105" name="Oval 37"/>
              <p:cNvSpPr>
                <a:spLocks noChangeArrowheads="1"/>
              </p:cNvSpPr>
              <p:nvPr/>
            </p:nvSpPr>
            <p:spPr bwMode="auto">
              <a:xfrm>
                <a:off x="8753464" y="4281497"/>
                <a:ext cx="432000" cy="432000"/>
              </a:xfrm>
              <a:prstGeom prst="ellipse">
                <a:avLst/>
              </a:prstGeom>
              <a:grpFill/>
              <a:ln w="28575">
                <a:solidFill>
                  <a:srgbClr val="507D7D"/>
                </a:solidFill>
                <a:round/>
              </a:ln>
              <a:effectLst/>
            </p:spPr>
            <p:txBody>
              <a:bodyPr lIns="0" tIns="0" rIns="0" bIns="0"/>
              <a:lstStyle/>
              <a:p>
                <a:pPr algn="ctr">
                  <a:lnSpc>
                    <a:spcPts val="2500"/>
                  </a:lnSpc>
                </a:pPr>
                <a:r>
                  <a:rPr lang="en-US" altLang="zh-CN" sz="2400" i="1" dirty="0" smtClean="0">
                    <a:solidFill>
                      <a:srgbClr val="40404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F</a:t>
                </a:r>
                <a:endParaRPr lang="zh-CN" altLang="en-US" sz="2400" i="1" dirty="0">
                  <a:solidFill>
                    <a:srgbClr val="40404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18" name="Freeform 44"/>
              <p:cNvSpPr/>
              <p:nvPr/>
            </p:nvSpPr>
            <p:spPr bwMode="auto">
              <a:xfrm flipV="1">
                <a:off x="8752921" y="3855338"/>
                <a:ext cx="180000" cy="432000"/>
              </a:xfrm>
              <a:custGeom>
                <a:avLst/>
                <a:gdLst>
                  <a:gd name="T0" fmla="*/ 259 w 259"/>
                  <a:gd name="T1" fmla="*/ 0 h 421"/>
                  <a:gd name="T2" fmla="*/ 0 w 259"/>
                  <a:gd name="T3" fmla="*/ 421 h 4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59" h="421">
                    <a:moveTo>
                      <a:pt x="259" y="0"/>
                    </a:moveTo>
                    <a:lnTo>
                      <a:pt x="0" y="421"/>
                    </a:lnTo>
                  </a:path>
                </a:pathLst>
              </a:custGeom>
              <a:grpFill/>
              <a:ln w="28575" cmpd="sng">
                <a:solidFill>
                  <a:srgbClr val="285A32"/>
                </a:solidFill>
                <a:round/>
              </a:ln>
            </p:spPr>
            <p:txBody>
              <a:bodyPr tIns="18000"/>
              <a:lstStyle/>
              <a:p>
                <a:pPr>
                  <a:lnSpc>
                    <a:spcPts val="2500"/>
                  </a:lnSpc>
                </a:pPr>
                <a:endParaRPr lang="zh-CN" altLang="en-US" sz="2400">
                  <a:solidFill>
                    <a:srgbClr val="404040"/>
                  </a:solidFill>
                </a:endParaRPr>
              </a:p>
            </p:txBody>
          </p:sp>
          <p:sp>
            <p:nvSpPr>
              <p:cNvPr id="119" name="Freeform 44"/>
              <p:cNvSpPr/>
              <p:nvPr/>
            </p:nvSpPr>
            <p:spPr bwMode="auto">
              <a:xfrm flipV="1">
                <a:off x="8338044" y="1329775"/>
                <a:ext cx="470880" cy="513123"/>
              </a:xfrm>
              <a:custGeom>
                <a:avLst/>
                <a:gdLst>
                  <a:gd name="T0" fmla="*/ 259 w 259"/>
                  <a:gd name="T1" fmla="*/ 0 h 421"/>
                  <a:gd name="T2" fmla="*/ 0 w 259"/>
                  <a:gd name="T3" fmla="*/ 421 h 4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59" h="421">
                    <a:moveTo>
                      <a:pt x="259" y="0"/>
                    </a:moveTo>
                    <a:lnTo>
                      <a:pt x="0" y="421"/>
                    </a:lnTo>
                  </a:path>
                </a:pathLst>
              </a:custGeom>
              <a:solidFill>
                <a:schemeClr val="accent6">
                  <a:lumMod val="75000"/>
                </a:schemeClr>
              </a:solidFill>
              <a:ln w="28575" cmpd="sng">
                <a:solidFill>
                  <a:schemeClr val="accent6">
                    <a:lumMod val="50000"/>
                  </a:schemeClr>
                </a:solidFill>
                <a:round/>
              </a:ln>
            </p:spPr>
            <p:txBody>
              <a:bodyPr tIns="18000"/>
              <a:lstStyle/>
              <a:p>
                <a:pPr>
                  <a:lnSpc>
                    <a:spcPts val="2500"/>
                  </a:lnSpc>
                </a:pPr>
                <a:endParaRPr lang="zh-CN" altLang="en-US" sz="2400">
                  <a:solidFill>
                    <a:srgbClr val="404040"/>
                  </a:solidFill>
                </a:endParaRPr>
              </a:p>
            </p:txBody>
          </p:sp>
        </p:grpSp>
        <p:grpSp>
          <p:nvGrpSpPr>
            <p:cNvPr id="4" name="组合 3"/>
            <p:cNvGrpSpPr/>
            <p:nvPr/>
          </p:nvGrpSpPr>
          <p:grpSpPr>
            <a:xfrm>
              <a:off x="5072" y="4627"/>
              <a:ext cx="1443" cy="5262"/>
              <a:chOff x="9051480" y="2193323"/>
              <a:chExt cx="916560" cy="3341106"/>
            </a:xfrm>
            <a:solidFill>
              <a:srgbClr val="B4B4BE"/>
            </a:solidFill>
          </p:grpSpPr>
          <p:sp>
            <p:nvSpPr>
              <p:cNvPr id="108" name="Freeform 44"/>
              <p:cNvSpPr/>
              <p:nvPr/>
            </p:nvSpPr>
            <p:spPr bwMode="auto">
              <a:xfrm>
                <a:off x="9267480" y="3026280"/>
                <a:ext cx="153480" cy="429578"/>
              </a:xfrm>
              <a:custGeom>
                <a:avLst/>
                <a:gdLst>
                  <a:gd name="T0" fmla="*/ 259 w 259"/>
                  <a:gd name="T1" fmla="*/ 0 h 421"/>
                  <a:gd name="T2" fmla="*/ 0 w 259"/>
                  <a:gd name="T3" fmla="*/ 421 h 4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59" h="421">
                    <a:moveTo>
                      <a:pt x="259" y="0"/>
                    </a:moveTo>
                    <a:lnTo>
                      <a:pt x="0" y="421"/>
                    </a:lnTo>
                  </a:path>
                </a:pathLst>
              </a:custGeom>
              <a:grpFill/>
              <a:ln w="28575" cmpd="sng">
                <a:solidFill>
                  <a:srgbClr val="285A32"/>
                </a:solidFill>
                <a:round/>
              </a:ln>
            </p:spPr>
            <p:txBody>
              <a:bodyPr tIns="18000"/>
              <a:lstStyle/>
              <a:p>
                <a:pPr>
                  <a:lnSpc>
                    <a:spcPts val="2500"/>
                  </a:lnSpc>
                </a:pPr>
                <a:endParaRPr lang="zh-CN" altLang="en-US" sz="2400">
                  <a:solidFill>
                    <a:srgbClr val="404040"/>
                  </a:solidFill>
                </a:endParaRPr>
              </a:p>
            </p:txBody>
          </p:sp>
          <p:sp>
            <p:nvSpPr>
              <p:cNvPr id="109" name="Oval 37"/>
              <p:cNvSpPr>
                <a:spLocks noChangeArrowheads="1"/>
              </p:cNvSpPr>
              <p:nvPr/>
            </p:nvSpPr>
            <p:spPr bwMode="auto">
              <a:xfrm>
                <a:off x="9322293" y="2658455"/>
                <a:ext cx="432000" cy="432000"/>
              </a:xfrm>
              <a:prstGeom prst="ellipse">
                <a:avLst/>
              </a:prstGeom>
              <a:grpFill/>
              <a:ln w="28575">
                <a:solidFill>
                  <a:srgbClr val="507D7D"/>
                </a:solidFill>
                <a:round/>
              </a:ln>
              <a:effectLst/>
            </p:spPr>
            <p:txBody>
              <a:bodyPr lIns="0" tIns="0" rIns="0" bIns="0"/>
              <a:lstStyle/>
              <a:p>
                <a:pPr algn="ctr">
                  <a:lnSpc>
                    <a:spcPts val="2500"/>
                  </a:lnSpc>
                </a:pPr>
                <a:r>
                  <a:rPr lang="en-US" altLang="zh-CN" sz="2400" i="1" dirty="0" smtClean="0">
                    <a:solidFill>
                      <a:srgbClr val="40404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G</a:t>
                </a:r>
                <a:endParaRPr lang="zh-CN" altLang="en-US" sz="2400" i="1" dirty="0">
                  <a:solidFill>
                    <a:srgbClr val="40404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10" name="Oval 37"/>
              <p:cNvSpPr>
                <a:spLocks noChangeArrowheads="1"/>
              </p:cNvSpPr>
              <p:nvPr/>
            </p:nvSpPr>
            <p:spPr bwMode="auto">
              <a:xfrm>
                <a:off x="9210333" y="5102429"/>
                <a:ext cx="432000" cy="432000"/>
              </a:xfrm>
              <a:prstGeom prst="ellipse">
                <a:avLst/>
              </a:prstGeom>
              <a:grpFill/>
              <a:ln w="28575">
                <a:solidFill>
                  <a:srgbClr val="507D7D"/>
                </a:solidFill>
                <a:round/>
              </a:ln>
              <a:effectLst/>
            </p:spPr>
            <p:txBody>
              <a:bodyPr lIns="0" tIns="0" rIns="0" bIns="0"/>
              <a:lstStyle/>
              <a:p>
                <a:pPr algn="ctr">
                  <a:lnSpc>
                    <a:spcPts val="2500"/>
                  </a:lnSpc>
                </a:pPr>
                <a:r>
                  <a:rPr lang="en-US" altLang="zh-CN" sz="2400" i="1" dirty="0" smtClean="0">
                    <a:solidFill>
                      <a:srgbClr val="40404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J</a:t>
                </a:r>
                <a:endParaRPr lang="zh-CN" altLang="en-US" sz="2400" i="1" dirty="0">
                  <a:solidFill>
                    <a:srgbClr val="40404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11" name="Oval 37"/>
              <p:cNvSpPr>
                <a:spLocks noChangeArrowheads="1"/>
              </p:cNvSpPr>
              <p:nvPr/>
            </p:nvSpPr>
            <p:spPr bwMode="auto">
              <a:xfrm>
                <a:off x="9536040" y="4278412"/>
                <a:ext cx="432000" cy="432000"/>
              </a:xfrm>
              <a:prstGeom prst="ellipse">
                <a:avLst/>
              </a:prstGeom>
              <a:grpFill/>
              <a:ln w="28575">
                <a:solidFill>
                  <a:srgbClr val="507D7D"/>
                </a:solidFill>
                <a:round/>
              </a:ln>
              <a:effectLst/>
            </p:spPr>
            <p:txBody>
              <a:bodyPr lIns="0" tIns="0" rIns="0" bIns="0"/>
              <a:lstStyle/>
              <a:p>
                <a:pPr algn="ctr">
                  <a:lnSpc>
                    <a:spcPts val="2500"/>
                  </a:lnSpc>
                </a:pPr>
                <a:r>
                  <a:rPr lang="en-US" altLang="zh-CN" sz="2400" i="1" dirty="0" smtClean="0">
                    <a:solidFill>
                      <a:srgbClr val="40404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I</a:t>
                </a:r>
                <a:endParaRPr lang="zh-CN" altLang="en-US" sz="2400" i="1" dirty="0">
                  <a:solidFill>
                    <a:srgbClr val="40404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12" name="Oval 37"/>
              <p:cNvSpPr>
                <a:spLocks noChangeArrowheads="1"/>
              </p:cNvSpPr>
              <p:nvPr/>
            </p:nvSpPr>
            <p:spPr bwMode="auto">
              <a:xfrm>
                <a:off x="9051480" y="3455858"/>
                <a:ext cx="432000" cy="432000"/>
              </a:xfrm>
              <a:prstGeom prst="ellipse">
                <a:avLst/>
              </a:prstGeom>
              <a:grpFill/>
              <a:ln w="28575">
                <a:solidFill>
                  <a:srgbClr val="507D7D"/>
                </a:solidFill>
                <a:round/>
              </a:ln>
              <a:effectLst/>
            </p:spPr>
            <p:txBody>
              <a:bodyPr lIns="0" tIns="0" rIns="0" bIns="0"/>
              <a:lstStyle/>
              <a:p>
                <a:pPr algn="ctr">
                  <a:lnSpc>
                    <a:spcPts val="2500"/>
                  </a:lnSpc>
                </a:pPr>
                <a:r>
                  <a:rPr lang="en-US" altLang="zh-CN" sz="2400" i="1" dirty="0" smtClean="0">
                    <a:solidFill>
                      <a:srgbClr val="40404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H</a:t>
                </a:r>
                <a:endParaRPr lang="zh-CN" altLang="en-US" sz="2400" i="1" dirty="0">
                  <a:solidFill>
                    <a:srgbClr val="40404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13" name="Freeform 44"/>
              <p:cNvSpPr/>
              <p:nvPr/>
            </p:nvSpPr>
            <p:spPr bwMode="auto">
              <a:xfrm flipV="1">
                <a:off x="9344081" y="3868620"/>
                <a:ext cx="252000" cy="468000"/>
              </a:xfrm>
              <a:custGeom>
                <a:avLst/>
                <a:gdLst>
                  <a:gd name="T0" fmla="*/ 259 w 259"/>
                  <a:gd name="T1" fmla="*/ 0 h 421"/>
                  <a:gd name="T2" fmla="*/ 0 w 259"/>
                  <a:gd name="T3" fmla="*/ 421 h 4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59" h="421">
                    <a:moveTo>
                      <a:pt x="259" y="0"/>
                    </a:moveTo>
                    <a:lnTo>
                      <a:pt x="0" y="421"/>
                    </a:lnTo>
                  </a:path>
                </a:pathLst>
              </a:custGeom>
              <a:grpFill/>
              <a:ln w="28575" cmpd="sng">
                <a:solidFill>
                  <a:srgbClr val="285A32"/>
                </a:solidFill>
                <a:round/>
              </a:ln>
            </p:spPr>
            <p:txBody>
              <a:bodyPr tIns="18000"/>
              <a:lstStyle/>
              <a:p>
                <a:pPr>
                  <a:lnSpc>
                    <a:spcPts val="2500"/>
                  </a:lnSpc>
                </a:pPr>
                <a:endParaRPr lang="zh-CN" altLang="en-US" sz="2400">
                  <a:solidFill>
                    <a:srgbClr val="404040"/>
                  </a:solidFill>
                </a:endParaRPr>
              </a:p>
            </p:txBody>
          </p:sp>
          <p:sp>
            <p:nvSpPr>
              <p:cNvPr id="114" name="Freeform 44"/>
              <p:cNvSpPr/>
              <p:nvPr/>
            </p:nvSpPr>
            <p:spPr bwMode="auto">
              <a:xfrm>
                <a:off x="9484865" y="4708987"/>
                <a:ext cx="216000" cy="396000"/>
              </a:xfrm>
              <a:custGeom>
                <a:avLst/>
                <a:gdLst>
                  <a:gd name="T0" fmla="*/ 259 w 259"/>
                  <a:gd name="T1" fmla="*/ 0 h 421"/>
                  <a:gd name="T2" fmla="*/ 0 w 259"/>
                  <a:gd name="T3" fmla="*/ 421 h 4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59" h="421">
                    <a:moveTo>
                      <a:pt x="259" y="0"/>
                    </a:moveTo>
                    <a:lnTo>
                      <a:pt x="0" y="421"/>
                    </a:lnTo>
                  </a:path>
                </a:pathLst>
              </a:custGeom>
              <a:grpFill/>
              <a:ln w="28575" cmpd="sng">
                <a:solidFill>
                  <a:srgbClr val="285A32"/>
                </a:solidFill>
                <a:round/>
              </a:ln>
            </p:spPr>
            <p:txBody>
              <a:bodyPr tIns="18000"/>
              <a:lstStyle/>
              <a:p>
                <a:pPr>
                  <a:lnSpc>
                    <a:spcPts val="2500"/>
                  </a:lnSpc>
                </a:pPr>
                <a:endParaRPr lang="zh-CN" altLang="en-US" sz="2400">
                  <a:solidFill>
                    <a:srgbClr val="404040"/>
                  </a:solidFill>
                </a:endParaRPr>
              </a:p>
            </p:txBody>
          </p:sp>
          <p:sp>
            <p:nvSpPr>
              <p:cNvPr id="121" name="Freeform 44"/>
              <p:cNvSpPr/>
              <p:nvPr/>
            </p:nvSpPr>
            <p:spPr bwMode="auto">
              <a:xfrm flipV="1">
                <a:off x="9063664" y="2193323"/>
                <a:ext cx="396000" cy="468000"/>
              </a:xfrm>
              <a:custGeom>
                <a:avLst/>
                <a:gdLst>
                  <a:gd name="T0" fmla="*/ 259 w 259"/>
                  <a:gd name="T1" fmla="*/ 0 h 421"/>
                  <a:gd name="T2" fmla="*/ 0 w 259"/>
                  <a:gd name="T3" fmla="*/ 421 h 4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59" h="421">
                    <a:moveTo>
                      <a:pt x="259" y="0"/>
                    </a:moveTo>
                    <a:lnTo>
                      <a:pt x="0" y="421"/>
                    </a:lnTo>
                  </a:path>
                </a:pathLst>
              </a:custGeom>
              <a:grpFill/>
              <a:ln w="28575" cmpd="sng">
                <a:solidFill>
                  <a:schemeClr val="accent6">
                    <a:lumMod val="50000"/>
                  </a:schemeClr>
                </a:solidFill>
                <a:round/>
              </a:ln>
            </p:spPr>
            <p:txBody>
              <a:bodyPr tIns="18000"/>
              <a:lstStyle/>
              <a:p>
                <a:pPr>
                  <a:lnSpc>
                    <a:spcPts val="2500"/>
                  </a:lnSpc>
                </a:pPr>
                <a:endParaRPr lang="zh-CN" altLang="en-US" sz="2400">
                  <a:solidFill>
                    <a:srgbClr val="404040"/>
                  </a:solidFill>
                </a:endParaRPr>
              </a:p>
            </p:txBody>
          </p:sp>
        </p:grpSp>
      </p:grpSp>
      <p:grpSp>
        <p:nvGrpSpPr>
          <p:cNvPr id="6" name="组合 5"/>
          <p:cNvGrpSpPr/>
          <p:nvPr/>
        </p:nvGrpSpPr>
        <p:grpSpPr>
          <a:xfrm>
            <a:off x="5124450" y="1644015"/>
            <a:ext cx="4876165" cy="2021840"/>
            <a:chOff x="8070" y="2589"/>
            <a:chExt cx="7679" cy="3184"/>
          </a:xfrm>
        </p:grpSpPr>
        <p:grpSp>
          <p:nvGrpSpPr>
            <p:cNvPr id="49" name="组合 48"/>
            <p:cNvGrpSpPr/>
            <p:nvPr/>
          </p:nvGrpSpPr>
          <p:grpSpPr>
            <a:xfrm>
              <a:off x="8070" y="2589"/>
              <a:ext cx="680" cy="2309"/>
              <a:chOff x="1843920" y="1921084"/>
              <a:chExt cx="432000" cy="1466156"/>
            </a:xfrm>
            <a:solidFill>
              <a:srgbClr val="B4B4BE"/>
            </a:solidFill>
          </p:grpSpPr>
          <p:sp>
            <p:nvSpPr>
              <p:cNvPr id="50" name="Freeform 44"/>
              <p:cNvSpPr/>
              <p:nvPr/>
            </p:nvSpPr>
            <p:spPr bwMode="auto">
              <a:xfrm>
                <a:off x="2053668" y="2365109"/>
                <a:ext cx="0" cy="612000"/>
              </a:xfrm>
              <a:custGeom>
                <a:avLst/>
                <a:gdLst>
                  <a:gd name="T0" fmla="*/ 259 w 259"/>
                  <a:gd name="T1" fmla="*/ 0 h 421"/>
                  <a:gd name="T2" fmla="*/ 0 w 259"/>
                  <a:gd name="T3" fmla="*/ 421 h 4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59" h="421">
                    <a:moveTo>
                      <a:pt x="259" y="0"/>
                    </a:moveTo>
                    <a:lnTo>
                      <a:pt x="0" y="421"/>
                    </a:lnTo>
                  </a:path>
                </a:pathLst>
              </a:custGeom>
              <a:grpFill/>
              <a:ln w="28575" cmpd="sng">
                <a:solidFill>
                  <a:srgbClr val="285A32"/>
                </a:solidFill>
                <a:round/>
              </a:ln>
            </p:spPr>
            <p:txBody>
              <a:bodyPr tIns="18000"/>
              <a:lstStyle/>
              <a:p>
                <a:pPr>
                  <a:lnSpc>
                    <a:spcPts val="2500"/>
                  </a:lnSpc>
                </a:pPr>
                <a:endParaRPr lang="zh-CN" altLang="en-US" sz="2400">
                  <a:solidFill>
                    <a:srgbClr val="404040"/>
                  </a:solidFill>
                </a:endParaRPr>
              </a:p>
            </p:txBody>
          </p:sp>
          <p:sp>
            <p:nvSpPr>
              <p:cNvPr id="51" name="Oval 37"/>
              <p:cNvSpPr>
                <a:spLocks noChangeArrowheads="1"/>
              </p:cNvSpPr>
              <p:nvPr/>
            </p:nvSpPr>
            <p:spPr bwMode="auto">
              <a:xfrm>
                <a:off x="1843920" y="1921084"/>
                <a:ext cx="432000" cy="432000"/>
              </a:xfrm>
              <a:prstGeom prst="ellipse">
                <a:avLst/>
              </a:prstGeom>
              <a:grpFill/>
              <a:ln w="28575">
                <a:solidFill>
                  <a:srgbClr val="507D7D"/>
                </a:solidFill>
                <a:round/>
              </a:ln>
              <a:effectLst/>
            </p:spPr>
            <p:txBody>
              <a:bodyPr lIns="0" tIns="0" rIns="0" bIns="0"/>
              <a:lstStyle/>
              <a:p>
                <a:pPr algn="ctr">
                  <a:lnSpc>
                    <a:spcPts val="2500"/>
                  </a:lnSpc>
                </a:pPr>
                <a:r>
                  <a:rPr lang="en-US" altLang="zh-CN" sz="2400" i="1" dirty="0" smtClean="0">
                    <a:solidFill>
                      <a:srgbClr val="40404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A</a:t>
                </a:r>
                <a:endParaRPr lang="zh-CN" altLang="en-US" sz="2400" i="1" dirty="0">
                  <a:solidFill>
                    <a:srgbClr val="40404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52" name="Oval 37"/>
              <p:cNvSpPr>
                <a:spLocks noChangeArrowheads="1"/>
              </p:cNvSpPr>
              <p:nvPr/>
            </p:nvSpPr>
            <p:spPr bwMode="auto">
              <a:xfrm>
                <a:off x="1843920" y="2955240"/>
                <a:ext cx="432000" cy="432000"/>
              </a:xfrm>
              <a:prstGeom prst="ellipse">
                <a:avLst/>
              </a:prstGeom>
              <a:grpFill/>
              <a:ln w="28575">
                <a:solidFill>
                  <a:srgbClr val="507D7D"/>
                </a:solidFill>
                <a:round/>
              </a:ln>
              <a:effectLst/>
            </p:spPr>
            <p:txBody>
              <a:bodyPr lIns="0" tIns="0" rIns="0" bIns="0"/>
              <a:lstStyle/>
              <a:p>
                <a:pPr algn="ctr">
                  <a:lnSpc>
                    <a:spcPts val="2500"/>
                  </a:lnSpc>
                </a:pPr>
                <a:r>
                  <a:rPr lang="en-US" altLang="zh-CN" sz="2400" i="1" dirty="0" smtClean="0">
                    <a:solidFill>
                      <a:srgbClr val="40404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B</a:t>
                </a:r>
                <a:endParaRPr lang="zh-CN" altLang="en-US" sz="2400" i="1" dirty="0">
                  <a:solidFill>
                    <a:srgbClr val="40404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9593" y="2589"/>
              <a:ext cx="2938" cy="1936"/>
              <a:chOff x="3225575" y="2083723"/>
              <a:chExt cx="1865932" cy="1229403"/>
            </a:xfrm>
            <a:solidFill>
              <a:srgbClr val="B4B4BE"/>
            </a:solidFill>
          </p:grpSpPr>
          <p:sp>
            <p:nvSpPr>
              <p:cNvPr id="54" name="Freeform 44"/>
              <p:cNvSpPr/>
              <p:nvPr/>
            </p:nvSpPr>
            <p:spPr bwMode="auto">
              <a:xfrm>
                <a:off x="3596615" y="2405828"/>
                <a:ext cx="382370" cy="521018"/>
              </a:xfrm>
              <a:custGeom>
                <a:avLst/>
                <a:gdLst>
                  <a:gd name="T0" fmla="*/ 259 w 259"/>
                  <a:gd name="T1" fmla="*/ 0 h 421"/>
                  <a:gd name="T2" fmla="*/ 0 w 259"/>
                  <a:gd name="T3" fmla="*/ 421 h 4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59" h="421">
                    <a:moveTo>
                      <a:pt x="259" y="0"/>
                    </a:moveTo>
                    <a:lnTo>
                      <a:pt x="0" y="421"/>
                    </a:lnTo>
                  </a:path>
                </a:pathLst>
              </a:custGeom>
              <a:grpFill/>
              <a:ln w="28575" cmpd="sng">
                <a:solidFill>
                  <a:srgbClr val="285A32"/>
                </a:solidFill>
                <a:round/>
              </a:ln>
            </p:spPr>
            <p:txBody>
              <a:bodyPr tIns="18000"/>
              <a:lstStyle/>
              <a:p>
                <a:pPr>
                  <a:lnSpc>
                    <a:spcPts val="2500"/>
                  </a:lnSpc>
                </a:pPr>
                <a:endParaRPr lang="zh-CN" altLang="en-US" sz="2400">
                  <a:solidFill>
                    <a:srgbClr val="404040"/>
                  </a:solidFill>
                </a:endParaRPr>
              </a:p>
            </p:txBody>
          </p:sp>
          <p:sp>
            <p:nvSpPr>
              <p:cNvPr id="55" name="Oval 37"/>
              <p:cNvSpPr>
                <a:spLocks noChangeArrowheads="1"/>
              </p:cNvSpPr>
              <p:nvPr/>
            </p:nvSpPr>
            <p:spPr bwMode="auto">
              <a:xfrm>
                <a:off x="3938348" y="2083723"/>
                <a:ext cx="432000" cy="432000"/>
              </a:xfrm>
              <a:prstGeom prst="ellipse">
                <a:avLst/>
              </a:prstGeom>
              <a:grpFill/>
              <a:ln w="28575">
                <a:solidFill>
                  <a:srgbClr val="507D7D"/>
                </a:solidFill>
                <a:round/>
              </a:ln>
              <a:effectLst/>
            </p:spPr>
            <p:txBody>
              <a:bodyPr lIns="0" tIns="0" rIns="0" bIns="0"/>
              <a:lstStyle/>
              <a:p>
                <a:pPr algn="ctr">
                  <a:lnSpc>
                    <a:spcPts val="2500"/>
                  </a:lnSpc>
                </a:pPr>
                <a:r>
                  <a:rPr lang="en-US" altLang="zh-CN" sz="2400" i="1" dirty="0" smtClean="0">
                    <a:solidFill>
                      <a:srgbClr val="40404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</a:t>
                </a:r>
                <a:endParaRPr lang="zh-CN" altLang="en-US" sz="2400" i="1" dirty="0">
                  <a:solidFill>
                    <a:srgbClr val="40404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56" name="Oval 37"/>
              <p:cNvSpPr>
                <a:spLocks noChangeArrowheads="1"/>
              </p:cNvSpPr>
              <p:nvPr/>
            </p:nvSpPr>
            <p:spPr bwMode="auto">
              <a:xfrm>
                <a:off x="3942541" y="2881126"/>
                <a:ext cx="432000" cy="432000"/>
              </a:xfrm>
              <a:prstGeom prst="ellipse">
                <a:avLst/>
              </a:prstGeom>
              <a:grpFill/>
              <a:ln w="28575">
                <a:solidFill>
                  <a:srgbClr val="507D7D"/>
                </a:solidFill>
                <a:round/>
              </a:ln>
              <a:effectLst/>
            </p:spPr>
            <p:txBody>
              <a:bodyPr lIns="0" tIns="0" rIns="0" bIns="0"/>
              <a:lstStyle/>
              <a:p>
                <a:pPr algn="ctr">
                  <a:lnSpc>
                    <a:spcPts val="2500"/>
                  </a:lnSpc>
                </a:pPr>
                <a:r>
                  <a:rPr lang="en-US" altLang="zh-CN" sz="2400" i="1" dirty="0" smtClean="0">
                    <a:solidFill>
                      <a:srgbClr val="40404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E</a:t>
                </a:r>
                <a:endParaRPr lang="zh-CN" altLang="en-US" sz="2400" i="1" dirty="0">
                  <a:solidFill>
                    <a:srgbClr val="40404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57" name="Oval 37"/>
              <p:cNvSpPr>
                <a:spLocks noChangeArrowheads="1"/>
              </p:cNvSpPr>
              <p:nvPr/>
            </p:nvSpPr>
            <p:spPr bwMode="auto">
              <a:xfrm>
                <a:off x="4659507" y="2881126"/>
                <a:ext cx="432000" cy="432000"/>
              </a:xfrm>
              <a:prstGeom prst="ellipse">
                <a:avLst/>
              </a:prstGeom>
              <a:grpFill/>
              <a:ln w="28575">
                <a:solidFill>
                  <a:srgbClr val="507D7D"/>
                </a:solidFill>
                <a:round/>
              </a:ln>
              <a:effectLst/>
            </p:spPr>
            <p:txBody>
              <a:bodyPr lIns="0" tIns="0" rIns="0" bIns="0"/>
              <a:lstStyle/>
              <a:p>
                <a:pPr algn="ctr">
                  <a:lnSpc>
                    <a:spcPts val="2500"/>
                  </a:lnSpc>
                </a:pPr>
                <a:r>
                  <a:rPr lang="en-US" altLang="zh-CN" sz="2400" i="1" dirty="0" smtClean="0">
                    <a:solidFill>
                      <a:srgbClr val="40404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F</a:t>
                </a:r>
                <a:endParaRPr lang="zh-CN" altLang="en-US" sz="2400" i="1" dirty="0">
                  <a:solidFill>
                    <a:srgbClr val="40404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58" name="Oval 37"/>
              <p:cNvSpPr>
                <a:spLocks noChangeArrowheads="1"/>
              </p:cNvSpPr>
              <p:nvPr/>
            </p:nvSpPr>
            <p:spPr bwMode="auto">
              <a:xfrm>
                <a:off x="3225575" y="2881126"/>
                <a:ext cx="432000" cy="432000"/>
              </a:xfrm>
              <a:prstGeom prst="ellipse">
                <a:avLst/>
              </a:prstGeom>
              <a:grpFill/>
              <a:ln w="28575">
                <a:solidFill>
                  <a:srgbClr val="507D7D"/>
                </a:solidFill>
                <a:round/>
              </a:ln>
              <a:effectLst/>
            </p:spPr>
            <p:txBody>
              <a:bodyPr lIns="0" tIns="0" rIns="0" bIns="0"/>
              <a:lstStyle/>
              <a:p>
                <a:pPr algn="ctr">
                  <a:lnSpc>
                    <a:spcPts val="2500"/>
                  </a:lnSpc>
                </a:pPr>
                <a:r>
                  <a:rPr lang="en-US" altLang="zh-CN" sz="2400" i="1" dirty="0" smtClean="0">
                    <a:solidFill>
                      <a:srgbClr val="40404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D</a:t>
                </a:r>
                <a:endParaRPr lang="zh-CN" altLang="en-US" sz="2400" i="1" dirty="0">
                  <a:solidFill>
                    <a:srgbClr val="40404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59" name="Freeform 44"/>
              <p:cNvSpPr/>
              <p:nvPr/>
            </p:nvSpPr>
            <p:spPr bwMode="auto">
              <a:xfrm flipV="1">
                <a:off x="4338378" y="2422191"/>
                <a:ext cx="382370" cy="521018"/>
              </a:xfrm>
              <a:custGeom>
                <a:avLst/>
                <a:gdLst>
                  <a:gd name="T0" fmla="*/ 259 w 259"/>
                  <a:gd name="T1" fmla="*/ 0 h 421"/>
                  <a:gd name="T2" fmla="*/ 0 w 259"/>
                  <a:gd name="T3" fmla="*/ 421 h 4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59" h="421">
                    <a:moveTo>
                      <a:pt x="259" y="0"/>
                    </a:moveTo>
                    <a:lnTo>
                      <a:pt x="0" y="421"/>
                    </a:lnTo>
                  </a:path>
                </a:pathLst>
              </a:custGeom>
              <a:grpFill/>
              <a:ln w="28575" cmpd="sng">
                <a:solidFill>
                  <a:srgbClr val="285A32"/>
                </a:solidFill>
                <a:round/>
              </a:ln>
            </p:spPr>
            <p:txBody>
              <a:bodyPr tIns="18000"/>
              <a:lstStyle/>
              <a:p>
                <a:pPr>
                  <a:lnSpc>
                    <a:spcPts val="2500"/>
                  </a:lnSpc>
                </a:pPr>
                <a:endParaRPr lang="zh-CN" altLang="en-US" sz="2400">
                  <a:solidFill>
                    <a:srgbClr val="404040"/>
                  </a:solidFill>
                </a:endParaRPr>
              </a:p>
            </p:txBody>
          </p:sp>
          <p:sp>
            <p:nvSpPr>
              <p:cNvPr id="60" name="Freeform 44"/>
              <p:cNvSpPr/>
              <p:nvPr/>
            </p:nvSpPr>
            <p:spPr bwMode="auto">
              <a:xfrm>
                <a:off x="4158541" y="2515723"/>
                <a:ext cx="0" cy="360000"/>
              </a:xfrm>
              <a:custGeom>
                <a:avLst/>
                <a:gdLst>
                  <a:gd name="T0" fmla="*/ 259 w 259"/>
                  <a:gd name="T1" fmla="*/ 0 h 421"/>
                  <a:gd name="T2" fmla="*/ 0 w 259"/>
                  <a:gd name="T3" fmla="*/ 421 h 4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59" h="421">
                    <a:moveTo>
                      <a:pt x="259" y="0"/>
                    </a:moveTo>
                    <a:lnTo>
                      <a:pt x="0" y="421"/>
                    </a:lnTo>
                  </a:path>
                </a:pathLst>
              </a:custGeom>
              <a:grpFill/>
              <a:ln w="28575" cmpd="sng">
                <a:solidFill>
                  <a:srgbClr val="285A32"/>
                </a:solidFill>
                <a:round/>
              </a:ln>
            </p:spPr>
            <p:txBody>
              <a:bodyPr tIns="18000"/>
              <a:lstStyle/>
              <a:p>
                <a:pPr>
                  <a:lnSpc>
                    <a:spcPts val="2500"/>
                  </a:lnSpc>
                </a:pPr>
                <a:endParaRPr lang="zh-CN" altLang="en-US" sz="2400">
                  <a:solidFill>
                    <a:srgbClr val="404040"/>
                  </a:solidFill>
                </a:endParaRPr>
              </a:p>
            </p:txBody>
          </p:sp>
        </p:grpSp>
        <p:grpSp>
          <p:nvGrpSpPr>
            <p:cNvPr id="61" name="组合 60"/>
            <p:cNvGrpSpPr/>
            <p:nvPr/>
          </p:nvGrpSpPr>
          <p:grpSpPr>
            <a:xfrm>
              <a:off x="13375" y="2589"/>
              <a:ext cx="2375" cy="3184"/>
              <a:chOff x="5883453" y="2115326"/>
              <a:chExt cx="1507916" cy="2021883"/>
            </a:xfrm>
            <a:solidFill>
              <a:srgbClr val="B4B4BE"/>
            </a:solidFill>
          </p:grpSpPr>
          <p:sp>
            <p:nvSpPr>
              <p:cNvPr id="62" name="Freeform 44"/>
              <p:cNvSpPr/>
              <p:nvPr/>
            </p:nvSpPr>
            <p:spPr bwMode="auto">
              <a:xfrm>
                <a:off x="6224013" y="2483151"/>
                <a:ext cx="288000" cy="468000"/>
              </a:xfrm>
              <a:custGeom>
                <a:avLst/>
                <a:gdLst>
                  <a:gd name="T0" fmla="*/ 259 w 259"/>
                  <a:gd name="T1" fmla="*/ 0 h 421"/>
                  <a:gd name="T2" fmla="*/ 0 w 259"/>
                  <a:gd name="T3" fmla="*/ 421 h 4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59" h="421">
                    <a:moveTo>
                      <a:pt x="259" y="0"/>
                    </a:moveTo>
                    <a:lnTo>
                      <a:pt x="0" y="421"/>
                    </a:lnTo>
                  </a:path>
                </a:pathLst>
              </a:custGeom>
              <a:grpFill/>
              <a:ln w="28575" cmpd="sng">
                <a:solidFill>
                  <a:srgbClr val="285A32"/>
                </a:solidFill>
                <a:round/>
              </a:ln>
            </p:spPr>
            <p:txBody>
              <a:bodyPr tIns="18000"/>
              <a:lstStyle/>
              <a:p>
                <a:pPr>
                  <a:lnSpc>
                    <a:spcPts val="2500"/>
                  </a:lnSpc>
                </a:pPr>
                <a:endParaRPr lang="zh-CN" altLang="en-US" sz="2400">
                  <a:solidFill>
                    <a:srgbClr val="404040"/>
                  </a:solidFill>
                </a:endParaRPr>
              </a:p>
            </p:txBody>
          </p:sp>
          <p:sp>
            <p:nvSpPr>
              <p:cNvPr id="63" name="Oval 37"/>
              <p:cNvSpPr>
                <a:spLocks noChangeArrowheads="1"/>
              </p:cNvSpPr>
              <p:nvPr/>
            </p:nvSpPr>
            <p:spPr bwMode="auto">
              <a:xfrm>
                <a:off x="6413346" y="2115326"/>
                <a:ext cx="432000" cy="432000"/>
              </a:xfrm>
              <a:prstGeom prst="ellipse">
                <a:avLst/>
              </a:prstGeom>
              <a:grpFill/>
              <a:ln w="28575">
                <a:solidFill>
                  <a:srgbClr val="507D7D"/>
                </a:solidFill>
                <a:round/>
              </a:ln>
              <a:effectLst/>
            </p:spPr>
            <p:txBody>
              <a:bodyPr lIns="0" tIns="0" rIns="0" bIns="0"/>
              <a:lstStyle/>
              <a:p>
                <a:pPr algn="ctr">
                  <a:lnSpc>
                    <a:spcPts val="2500"/>
                  </a:lnSpc>
                </a:pPr>
                <a:r>
                  <a:rPr lang="en-US" altLang="zh-CN" sz="2400" i="1" dirty="0" smtClean="0">
                    <a:solidFill>
                      <a:srgbClr val="40404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G</a:t>
                </a:r>
                <a:endParaRPr lang="zh-CN" altLang="en-US" sz="2400" i="1" dirty="0">
                  <a:solidFill>
                    <a:srgbClr val="40404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64" name="Oval 37"/>
              <p:cNvSpPr>
                <a:spLocks noChangeArrowheads="1"/>
              </p:cNvSpPr>
              <p:nvPr/>
            </p:nvSpPr>
            <p:spPr bwMode="auto">
              <a:xfrm>
                <a:off x="6959369" y="3705209"/>
                <a:ext cx="432000" cy="432000"/>
              </a:xfrm>
              <a:prstGeom prst="ellipse">
                <a:avLst/>
              </a:prstGeom>
              <a:grpFill/>
              <a:ln w="28575">
                <a:solidFill>
                  <a:srgbClr val="507D7D"/>
                </a:solidFill>
                <a:round/>
              </a:ln>
              <a:effectLst/>
            </p:spPr>
            <p:txBody>
              <a:bodyPr lIns="0" tIns="0" rIns="0" bIns="0"/>
              <a:lstStyle/>
              <a:p>
                <a:pPr algn="ctr">
                  <a:lnSpc>
                    <a:spcPts val="2500"/>
                  </a:lnSpc>
                </a:pPr>
                <a:r>
                  <a:rPr lang="en-US" altLang="zh-CN" sz="2400" i="1" dirty="0" smtClean="0">
                    <a:solidFill>
                      <a:srgbClr val="40404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J</a:t>
                </a:r>
                <a:endParaRPr lang="zh-CN" altLang="en-US" sz="2400" i="1" dirty="0">
                  <a:solidFill>
                    <a:srgbClr val="40404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65" name="Oval 37"/>
              <p:cNvSpPr>
                <a:spLocks noChangeArrowheads="1"/>
              </p:cNvSpPr>
              <p:nvPr/>
            </p:nvSpPr>
            <p:spPr bwMode="auto">
              <a:xfrm>
                <a:off x="6951625" y="2912729"/>
                <a:ext cx="432000" cy="432000"/>
              </a:xfrm>
              <a:prstGeom prst="ellipse">
                <a:avLst/>
              </a:prstGeom>
              <a:grpFill/>
              <a:ln w="28575">
                <a:solidFill>
                  <a:srgbClr val="507D7D"/>
                </a:solidFill>
                <a:round/>
              </a:ln>
              <a:effectLst/>
            </p:spPr>
            <p:txBody>
              <a:bodyPr lIns="0" tIns="0" rIns="0" bIns="0"/>
              <a:lstStyle/>
              <a:p>
                <a:pPr algn="ctr">
                  <a:lnSpc>
                    <a:spcPts val="2500"/>
                  </a:lnSpc>
                </a:pPr>
                <a:r>
                  <a:rPr lang="en-US" altLang="zh-CN" sz="2400" i="1" dirty="0" smtClean="0">
                    <a:solidFill>
                      <a:srgbClr val="40404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I</a:t>
                </a:r>
                <a:endParaRPr lang="zh-CN" altLang="en-US" sz="2400" i="1" dirty="0">
                  <a:solidFill>
                    <a:srgbClr val="40404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66" name="Oval 37"/>
              <p:cNvSpPr>
                <a:spLocks noChangeArrowheads="1"/>
              </p:cNvSpPr>
              <p:nvPr/>
            </p:nvSpPr>
            <p:spPr bwMode="auto">
              <a:xfrm>
                <a:off x="5883453" y="2912729"/>
                <a:ext cx="432000" cy="432000"/>
              </a:xfrm>
              <a:prstGeom prst="ellipse">
                <a:avLst/>
              </a:prstGeom>
              <a:grpFill/>
              <a:ln w="28575">
                <a:solidFill>
                  <a:srgbClr val="507D7D"/>
                </a:solidFill>
                <a:round/>
              </a:ln>
              <a:effectLst/>
            </p:spPr>
            <p:txBody>
              <a:bodyPr lIns="0" tIns="0" rIns="0" bIns="0"/>
              <a:lstStyle/>
              <a:p>
                <a:pPr algn="ctr">
                  <a:lnSpc>
                    <a:spcPts val="2500"/>
                  </a:lnSpc>
                </a:pPr>
                <a:r>
                  <a:rPr lang="en-US" altLang="zh-CN" sz="2400" i="1" dirty="0" smtClean="0">
                    <a:solidFill>
                      <a:srgbClr val="40404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H</a:t>
                </a:r>
                <a:endParaRPr lang="zh-CN" altLang="en-US" sz="2400" i="1" dirty="0">
                  <a:solidFill>
                    <a:srgbClr val="40404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67" name="Freeform 44"/>
              <p:cNvSpPr/>
              <p:nvPr/>
            </p:nvSpPr>
            <p:spPr bwMode="auto">
              <a:xfrm>
                <a:off x="7175369" y="3339806"/>
                <a:ext cx="0" cy="360000"/>
              </a:xfrm>
              <a:custGeom>
                <a:avLst/>
                <a:gdLst>
                  <a:gd name="T0" fmla="*/ 259 w 259"/>
                  <a:gd name="T1" fmla="*/ 0 h 421"/>
                  <a:gd name="T2" fmla="*/ 0 w 259"/>
                  <a:gd name="T3" fmla="*/ 421 h 4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59" h="421">
                    <a:moveTo>
                      <a:pt x="259" y="0"/>
                    </a:moveTo>
                    <a:lnTo>
                      <a:pt x="0" y="421"/>
                    </a:lnTo>
                  </a:path>
                </a:pathLst>
              </a:custGeom>
              <a:grpFill/>
              <a:ln w="28575" cmpd="sng">
                <a:solidFill>
                  <a:srgbClr val="285A32"/>
                </a:solidFill>
                <a:round/>
              </a:ln>
            </p:spPr>
            <p:txBody>
              <a:bodyPr tIns="18000"/>
              <a:lstStyle/>
              <a:p>
                <a:pPr>
                  <a:lnSpc>
                    <a:spcPts val="2500"/>
                  </a:lnSpc>
                </a:pPr>
                <a:endParaRPr lang="zh-CN" altLang="en-US" sz="2400">
                  <a:solidFill>
                    <a:srgbClr val="404040"/>
                  </a:solidFill>
                </a:endParaRPr>
              </a:p>
            </p:txBody>
          </p:sp>
          <p:sp>
            <p:nvSpPr>
              <p:cNvPr id="68" name="Freeform 44"/>
              <p:cNvSpPr/>
              <p:nvPr/>
            </p:nvSpPr>
            <p:spPr bwMode="auto">
              <a:xfrm flipV="1">
                <a:off x="6774906" y="2487700"/>
                <a:ext cx="288000" cy="468000"/>
              </a:xfrm>
              <a:custGeom>
                <a:avLst/>
                <a:gdLst>
                  <a:gd name="T0" fmla="*/ 259 w 259"/>
                  <a:gd name="T1" fmla="*/ 0 h 421"/>
                  <a:gd name="T2" fmla="*/ 0 w 259"/>
                  <a:gd name="T3" fmla="*/ 421 h 4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59" h="421">
                    <a:moveTo>
                      <a:pt x="259" y="0"/>
                    </a:moveTo>
                    <a:lnTo>
                      <a:pt x="0" y="421"/>
                    </a:lnTo>
                  </a:path>
                </a:pathLst>
              </a:custGeom>
              <a:grpFill/>
              <a:ln w="28575" cmpd="sng">
                <a:solidFill>
                  <a:srgbClr val="285A32"/>
                </a:solidFill>
                <a:round/>
              </a:ln>
            </p:spPr>
            <p:txBody>
              <a:bodyPr tIns="18000"/>
              <a:lstStyle/>
              <a:p>
                <a:pPr>
                  <a:lnSpc>
                    <a:spcPts val="2500"/>
                  </a:lnSpc>
                </a:pPr>
                <a:endParaRPr lang="zh-CN" altLang="en-US" sz="2400">
                  <a:solidFill>
                    <a:srgbClr val="404040"/>
                  </a:solidFill>
                </a:endParaRP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633095" y="767080"/>
            <a:ext cx="10967720" cy="1383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sz="2800" b="0">
                <a:latin typeface="+mn-ea"/>
                <a:cs typeface="+mn-ea"/>
              </a:rPr>
              <a:t>已知一个连通图如图6-8所示，试给出图的邻接矩阵和邻接表存储示意图，若从顶点v1出发对该图进行遍历，分别给出一个按深度优先遍历和广度优先遍历的顶点序列。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623695" y="2421890"/>
            <a:ext cx="3970020" cy="26289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862320" y="1770380"/>
            <a:ext cx="39446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邻接矩阵表示如下：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36945" y="2313940"/>
            <a:ext cx="2972435" cy="284226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433830" y="5101590"/>
            <a:ext cx="999553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/>
              <a:t>深度优先遍历序列为：v1 v2 v3 v5 v4 v6</a:t>
            </a:r>
          </a:p>
          <a:p>
            <a:r>
              <a:rPr lang="zh-CN" altLang="en-US" sz="2800"/>
              <a:t>广度优先遍历序列为：v1 v2 v4 v6 v3 v5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7" grpId="0"/>
      <p:bldP spid="7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62940" y="842010"/>
            <a:ext cx="10439400" cy="620395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>
                <a:latin typeface="+mn-ea"/>
                <a:ea typeface="+mn-ea"/>
                <a:cs typeface="+mn-ea"/>
              </a:rPr>
              <a:t>邻接表表示如下：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40740" y="1598295"/>
            <a:ext cx="9622790" cy="32721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62940" y="842010"/>
            <a:ext cx="10494645" cy="909955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2800">
                <a:latin typeface="+mn-ea"/>
                <a:ea typeface="+mn-ea"/>
                <a:cs typeface="+mn-ea"/>
              </a:rPr>
              <a:t>图6-9所示是一个无向带权图，请分别按Prim算法和Kruskal算法求最小生成树。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868805" y="1932305"/>
            <a:ext cx="3477895" cy="32708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62940" y="237490"/>
            <a:ext cx="10383520" cy="731520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>
                <a:latin typeface="+mn-ea"/>
                <a:ea typeface="+mn-ea"/>
                <a:cs typeface="+mn-ea"/>
              </a:rPr>
              <a:t>按Prim算法求最小生成树的过程如下：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93140" y="949960"/>
            <a:ext cx="9205595" cy="25158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89050" y="3465830"/>
            <a:ext cx="7056755" cy="26936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62940" y="237490"/>
            <a:ext cx="10383520" cy="731520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>
                <a:latin typeface="+mn-ea"/>
                <a:ea typeface="+mn-ea"/>
                <a:cs typeface="+mn-ea"/>
              </a:rPr>
              <a:t>按Kruskal算法求最小生成树的过程如下：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42975" y="1009015"/>
            <a:ext cx="9676765" cy="5175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62940" y="237490"/>
            <a:ext cx="10383520" cy="1022985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>
                <a:latin typeface="+mn-ea"/>
                <a:ea typeface="+mn-ea"/>
                <a:cs typeface="+mn-ea"/>
              </a:rPr>
              <a:t>对如图6-5所示的无向连通网图从顶点d开始用Prim算法构造最小生成树，在构造过程中加入最小生成树的前4条边依次是（      ）。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70255" y="1518920"/>
            <a:ext cx="4880610" cy="3361690"/>
          </a:xfrm>
          <a:prstGeom prst="rect">
            <a:avLst/>
          </a:prstGeom>
        </p:spPr>
      </p:pic>
      <p:sp>
        <p:nvSpPr>
          <p:cNvPr id="100" name="文本框 99"/>
          <p:cNvSpPr txBox="1"/>
          <p:nvPr/>
        </p:nvSpPr>
        <p:spPr>
          <a:xfrm>
            <a:off x="5899150" y="1242060"/>
            <a:ext cx="5080000" cy="526224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indent="0"/>
            <a:r>
              <a:rPr lang="zh-CN" sz="2800" b="0">
                <a:ea typeface="宋体" panose="02010600030101010101" pitchFamily="2" charset="-122"/>
              </a:rPr>
              <a:t>先将顶点</a:t>
            </a:r>
            <a:r>
              <a:rPr lang="en-US" sz="2800" b="0">
                <a:latin typeface="宋体" panose="02010600030101010101" pitchFamily="2" charset="-122"/>
              </a:rPr>
              <a:t>d</a:t>
            </a:r>
            <a:r>
              <a:rPr lang="zh-CN" sz="2800" b="0">
                <a:ea typeface="宋体" panose="02010600030101010101" pitchFamily="2" charset="-122"/>
              </a:rPr>
              <a:t>涂黑，然后选取一个顶点涂黑另一个顶点未涂黑的权值最小的边，为</a:t>
            </a:r>
            <a:r>
              <a:rPr lang="en-US" sz="2800" b="0">
                <a:latin typeface="Times New Roman" panose="02020603050405020304" charset="0"/>
              </a:rPr>
              <a:t>(d, f)4</a:t>
            </a:r>
            <a:r>
              <a:rPr lang="zh-CN" sz="2800" b="0">
                <a:ea typeface="宋体" panose="02010600030101010101" pitchFamily="2" charset="-122"/>
              </a:rPr>
              <a:t>；然后将顶点</a:t>
            </a:r>
            <a:r>
              <a:rPr lang="en-US" sz="2800" b="0">
                <a:latin typeface="Times New Roman" panose="02020603050405020304" charset="0"/>
              </a:rPr>
              <a:t>f</a:t>
            </a:r>
            <a:r>
              <a:rPr lang="zh-CN" sz="2800" b="0">
                <a:ea typeface="宋体" panose="02010600030101010101" pitchFamily="2" charset="-122"/>
              </a:rPr>
              <a:t>涂黑，选取一个顶点涂黑另一个顶点未涂黑的权值最小的边，为</a:t>
            </a:r>
            <a:r>
              <a:rPr lang="en-US" sz="2800" b="0">
                <a:latin typeface="Times New Roman" panose="02020603050405020304" charset="0"/>
              </a:rPr>
              <a:t>(f, e)2</a:t>
            </a:r>
            <a:r>
              <a:rPr lang="zh-CN" sz="2800" b="0">
                <a:ea typeface="宋体" panose="02010600030101010101" pitchFamily="2" charset="-122"/>
              </a:rPr>
              <a:t>；然后将顶点</a:t>
            </a:r>
            <a:r>
              <a:rPr lang="en-US" sz="2800" b="0">
                <a:latin typeface="Times New Roman" panose="02020603050405020304" charset="0"/>
              </a:rPr>
              <a:t>e</a:t>
            </a:r>
            <a:r>
              <a:rPr lang="zh-CN" sz="2800" b="0">
                <a:ea typeface="宋体" panose="02010600030101010101" pitchFamily="2" charset="-122"/>
              </a:rPr>
              <a:t>涂黑，再选取一个顶点涂黑另一个顶点未涂黑的权值最小的边，为</a:t>
            </a:r>
            <a:r>
              <a:rPr lang="en-US" sz="2800" b="0">
                <a:latin typeface="Times New Roman" panose="02020603050405020304" charset="0"/>
              </a:rPr>
              <a:t>(f, b)3</a:t>
            </a:r>
            <a:r>
              <a:rPr lang="zh-CN" sz="2800" b="0">
                <a:ea typeface="宋体" panose="02010600030101010101" pitchFamily="2" charset="-122"/>
              </a:rPr>
              <a:t>或</a:t>
            </a:r>
            <a:r>
              <a:rPr lang="en-US" sz="2800" b="0">
                <a:latin typeface="Times New Roman" panose="02020603050405020304" charset="0"/>
              </a:rPr>
              <a:t>(e, b)3</a:t>
            </a:r>
            <a:r>
              <a:rPr lang="zh-CN" sz="2800" b="0">
                <a:ea typeface="宋体" panose="02010600030101010101" pitchFamily="2" charset="-122"/>
              </a:rPr>
              <a:t>；然后将顶点</a:t>
            </a:r>
            <a:r>
              <a:rPr lang="en-US" sz="2800" b="0">
                <a:latin typeface="Times New Roman" panose="02020603050405020304" charset="0"/>
              </a:rPr>
              <a:t>b</a:t>
            </a:r>
            <a:r>
              <a:rPr lang="zh-CN" sz="2800" b="0">
                <a:ea typeface="宋体" panose="02010600030101010101" pitchFamily="2" charset="-122"/>
              </a:rPr>
              <a:t>涂黑，再选取一个顶点涂黑另一个顶点未涂黑的权值最小的边，为</a:t>
            </a:r>
            <a:r>
              <a:rPr lang="en-US" sz="2800" b="0">
                <a:latin typeface="Times New Roman" panose="02020603050405020304" charset="0"/>
              </a:rPr>
              <a:t>(b, a)5</a:t>
            </a:r>
            <a:r>
              <a:rPr lang="zh-CN" sz="2800" b="0">
                <a:ea typeface="宋体" panose="02010600030101010101" pitchFamily="2" charset="-122"/>
              </a:rPr>
              <a:t>。</a:t>
            </a:r>
            <a:endParaRPr lang="zh-CN" altLang="en-US" sz="2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100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62940" y="237490"/>
            <a:ext cx="10383520" cy="1022985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>
                <a:latin typeface="+mn-ea"/>
                <a:ea typeface="+mn-ea"/>
                <a:cs typeface="+mn-ea"/>
              </a:rPr>
              <a:t>如图6-10所示的有向网图，利用Dijkstra算法求从顶点v1到其他各顶点的最短路径。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25270" y="1550670"/>
            <a:ext cx="5107940" cy="40214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51510" y="1055370"/>
            <a:ext cx="7713345" cy="709295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>
                <a:latin typeface="+mn-ea"/>
                <a:ea typeface="+mn-ea"/>
                <a:cs typeface="+mn-ea"/>
              </a:rPr>
              <a:t>从源点v1到其他各顶点的最短路径如下表所示。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8364855" y="49530"/>
            <a:ext cx="3688715" cy="2904490"/>
          </a:xfrm>
          <a:prstGeom prst="rect">
            <a:avLst/>
          </a:prstGeom>
        </p:spPr>
      </p:pic>
      <p:graphicFrame>
        <p:nvGraphicFramePr>
          <p:cNvPr id="8" name="表格 7"/>
          <p:cNvGraphicFramePr/>
          <p:nvPr>
            <p:custDataLst>
              <p:tags r:id="rId1"/>
            </p:custDataLst>
          </p:nvPr>
        </p:nvGraphicFramePr>
        <p:xfrm>
          <a:off x="651353" y="2802890"/>
          <a:ext cx="10959465" cy="35674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80565"/>
                <a:gridCol w="2381885"/>
                <a:gridCol w="3612515"/>
                <a:gridCol w="2984500"/>
              </a:tblGrid>
              <a:tr h="58102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源点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终点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最短路径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最短路径长度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753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i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</a:t>
                      </a:r>
                      <a:r>
                        <a:rPr lang="en-US" sz="2800" b="0" baseline="-25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2800" b="0" i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i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</a:t>
                      </a:r>
                      <a:r>
                        <a:rPr lang="en-US" sz="2800" b="0" baseline="-25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</a:t>
                      </a:r>
                      <a:endParaRPr lang="en-US" altLang="en-US" sz="2800" b="0" i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 i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v</a:t>
                      </a:r>
                      <a:r>
                        <a:rPr lang="en-US" sz="2800" b="0" baseline="-25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lang="en-US" sz="2800" b="0" i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v</a:t>
                      </a:r>
                      <a:r>
                        <a:rPr lang="en-US" sz="2800" b="0" baseline="-25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</a:t>
                      </a:r>
                      <a:endParaRPr lang="en-US" altLang="en-US" sz="2800" b="0" i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15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i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</a:t>
                      </a:r>
                      <a:r>
                        <a:rPr lang="en-US" sz="2800" b="0" baseline="-25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2800" b="0" i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i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</a:t>
                      </a:r>
                      <a:r>
                        <a:rPr lang="en-US" sz="2800" b="0" baseline="-25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</a:t>
                      </a:r>
                      <a:endParaRPr lang="en-US" altLang="en-US" sz="2800" b="0" i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 i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v</a:t>
                      </a:r>
                      <a:r>
                        <a:rPr lang="en-US" sz="2800" b="0" baseline="-25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lang="en-US" sz="2800" b="0" i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v</a:t>
                      </a:r>
                      <a:r>
                        <a:rPr lang="en-US" sz="2800" b="0" baseline="-25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</a:t>
                      </a:r>
                      <a:endParaRPr lang="en-US" altLang="en-US" sz="2800" b="0" i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15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753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i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</a:t>
                      </a:r>
                      <a:r>
                        <a:rPr lang="en-US" sz="2800" b="0" baseline="-25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2800" b="0" i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i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</a:t>
                      </a:r>
                      <a:r>
                        <a:rPr lang="en-US" sz="2800" b="0" baseline="-25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lang="en-US" altLang="en-US" sz="2800" b="0" i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 i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v</a:t>
                      </a:r>
                      <a:r>
                        <a:rPr lang="en-US" sz="2800" b="0" baseline="-25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lang="en-US" sz="2800" b="0" i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v</a:t>
                      </a:r>
                      <a:r>
                        <a:rPr lang="en-US" sz="2800" b="0" baseline="-25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</a:t>
                      </a:r>
                      <a:r>
                        <a:rPr lang="en-US" sz="2800" b="0" i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v</a:t>
                      </a:r>
                      <a:r>
                        <a:rPr lang="en-US" sz="2800" b="0" baseline="-25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lang="en-US" altLang="en-US" sz="2800" b="0" i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25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690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i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</a:t>
                      </a:r>
                      <a:r>
                        <a:rPr lang="en-US" sz="2800" b="0" baseline="-25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2800" b="0" i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i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</a:t>
                      </a:r>
                      <a:r>
                        <a:rPr lang="en-US" sz="2800" b="0" baseline="-25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</a:t>
                      </a:r>
                      <a:endParaRPr lang="en-US" altLang="en-US" sz="2800" b="0" i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 i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v</a:t>
                      </a:r>
                      <a:r>
                        <a:rPr lang="en-US" sz="2800" b="0" baseline="-25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lang="en-US" sz="2800" b="0" i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v</a:t>
                      </a:r>
                      <a:r>
                        <a:rPr lang="en-US" sz="2800" b="0" baseline="-25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</a:t>
                      </a:r>
                      <a:r>
                        <a:rPr lang="en-US" sz="2800" b="0" i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v</a:t>
                      </a:r>
                      <a:r>
                        <a:rPr lang="en-US" sz="2800" b="0" baseline="-25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r>
                        <a:rPr lang="en-US" sz="2800" b="0" i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v</a:t>
                      </a:r>
                      <a:r>
                        <a:rPr lang="en-US" sz="2800" b="0" baseline="-25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</a:t>
                      </a:r>
                      <a:endParaRPr lang="en-US" altLang="en-US" sz="2800" b="0" i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40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753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i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</a:t>
                      </a:r>
                      <a:r>
                        <a:rPr lang="en-US" sz="2800" b="0" baseline="-25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2800" b="0" i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i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</a:t>
                      </a:r>
                      <a:r>
                        <a:rPr lang="en-US" sz="2800" b="0" baseline="-25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  <a:endParaRPr lang="en-US" altLang="en-US" sz="2800" b="0" i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 i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   v</a:t>
                      </a:r>
                      <a:r>
                        <a:rPr lang="en-US" sz="2800" b="0" baseline="-25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r>
                        <a:rPr lang="en-US" sz="2800" b="0" i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v</a:t>
                      </a:r>
                      <a:r>
                        <a:rPr lang="en-US" sz="2800" b="0" baseline="-25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</a:t>
                      </a:r>
                      <a:r>
                        <a:rPr lang="en-US" sz="2800" b="0" i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v</a:t>
                      </a:r>
                      <a:r>
                        <a:rPr lang="en-US" sz="2800" b="0" baseline="-25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r>
                        <a:rPr lang="en-US" sz="2800" b="0" i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v</a:t>
                      </a:r>
                      <a:r>
                        <a:rPr lang="en-US" sz="2800" b="0" baseline="-25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  <a:endParaRPr lang="en-US" altLang="en-US" sz="2800" b="0" i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45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62940" y="842010"/>
            <a:ext cx="10641965" cy="1056640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>
                <a:latin typeface="+mn-ea"/>
                <a:ea typeface="+mn-ea"/>
                <a:cs typeface="+mn-ea"/>
              </a:rPr>
              <a:t>对于如图6-11所示的有向网图，求出各活动的最早开始时间和最晚开始时间，并写出关键活动和关键路径。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30910" y="2390140"/>
            <a:ext cx="3999230" cy="3400425"/>
          </a:xfrm>
          <a:prstGeom prst="rect">
            <a:avLst/>
          </a:prstGeom>
        </p:spPr>
      </p:pic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5205820" y="2179955"/>
          <a:ext cx="5215890" cy="128079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49195"/>
                <a:gridCol w="684530"/>
                <a:gridCol w="609600"/>
                <a:gridCol w="594995"/>
                <a:gridCol w="877570"/>
              </a:tblGrid>
              <a:tr h="427355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zh-CN" alt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事件</a:t>
                      </a: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 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i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</a:t>
                      </a:r>
                      <a:r>
                        <a:rPr lang="en-US" sz="2800" b="0" baseline="-25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2800" b="0" i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i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</a:t>
                      </a:r>
                      <a:r>
                        <a:rPr lang="en-US" sz="2800" b="0" baseline="-25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lang="en-US" altLang="en-US" sz="2800" b="0" i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i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</a:t>
                      </a:r>
                      <a:r>
                        <a:rPr lang="en-US" sz="2800" b="0" baseline="-25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</a:t>
                      </a:r>
                      <a:endParaRPr lang="en-US" altLang="en-US" sz="2800" b="0" i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i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v</a:t>
                      </a:r>
                      <a:r>
                        <a:rPr lang="en-US" sz="2800" b="0" baseline="-25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  <a:endParaRPr lang="en-US" altLang="en-US" sz="2800" b="0" i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最早开始时间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indent="0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最迟开始时间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10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>
            <p:custDataLst>
              <p:tags r:id="rId2"/>
            </p:custDataLst>
          </p:nvPr>
        </p:nvGraphicFramePr>
        <p:xfrm>
          <a:off x="5205413" y="4118610"/>
          <a:ext cx="4991735" cy="1498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64435"/>
                <a:gridCol w="493395"/>
                <a:gridCol w="499745"/>
                <a:gridCol w="484505"/>
                <a:gridCol w="486410"/>
                <a:gridCol w="563245"/>
              </a:tblGrid>
              <a:tr h="430530"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活动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i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2800" b="0" baseline="-25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1</a:t>
                      </a:r>
                      <a:endParaRPr lang="en-US" altLang="en-US" sz="2800" b="0" i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i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2800" b="0" baseline="-25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2</a:t>
                      </a:r>
                      <a:endParaRPr lang="en-US" altLang="en-US" sz="2800" b="0" i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i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2800" b="0" baseline="-25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</a:t>
                      </a:r>
                      <a:endParaRPr lang="en-US" altLang="en-US" sz="2800" b="0" i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i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2800" b="0" baseline="-25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  <a:endParaRPr lang="en-US" altLang="en-US" sz="2800" b="0" i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 i="1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a</a:t>
                      </a:r>
                      <a:r>
                        <a:rPr lang="en-US" sz="2800" b="0" baseline="-2500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5</a:t>
                      </a:r>
                      <a:endParaRPr lang="en-US" altLang="en-US" sz="2800" b="0" i="1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0609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最早开始时间</a:t>
                      </a: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1975"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最迟开始时间</a:t>
                      </a:r>
                    </a:p>
                  </a:txBody>
                  <a:tcPr marL="68580" marR="68580" marT="0" marB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0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3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6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2800" b="0">
                          <a:latin typeface="宋体" panose="02010600030101010101" pitchFamily="2" charset="-122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a:t>4</a:t>
                      </a:r>
                      <a:endParaRPr lang="en-US" altLang="en-US" sz="2800" b="0">
                        <a:latin typeface="宋体" panose="02010600030101010101" pitchFamily="2" charset="-122"/>
                        <a:ea typeface="宋体" panose="02010600030101010101" pitchFamily="2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62940" y="680085"/>
            <a:ext cx="10383520" cy="731520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2800">
                <a:latin typeface="+mn-ea"/>
                <a:ea typeface="+mn-ea"/>
                <a:cs typeface="+mn-ea"/>
              </a:rPr>
              <a:t>关键活动是a1、a3、a4和a5，它们组成两条关键路径，如图6-12所示。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48360" y="1873885"/>
            <a:ext cx="10197465" cy="41535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62940" y="680085"/>
            <a:ext cx="10383520" cy="988695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>
                <a:latin typeface="+mn-ea"/>
                <a:ea typeface="+mn-ea"/>
                <a:cs typeface="+mn-ea"/>
              </a:rPr>
              <a:t>设有如图6-6所示的AOE网，则事件v4的最早开始时间是（      ），最迟开始时间是（      ），该AOE网的关键路径有（      ）条。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35735" y="2171065"/>
            <a:ext cx="6295390" cy="3594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947545" y="325120"/>
            <a:ext cx="5140960" cy="293497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62940" y="2698750"/>
            <a:ext cx="10440035" cy="1257935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pPr algn="l"/>
            <a:r>
              <a:rPr lang="zh-CN" altLang="en-US" sz="2800">
                <a:latin typeface="+mn-ea"/>
                <a:ea typeface="+mn-ea"/>
                <a:cs typeface="+mn-ea"/>
              </a:rPr>
              <a:t>事件v4的最早开始时间是从顶点v1到v4的最长路径长度13，事件v4的最迟开始时间=min{事件v6的最迟发生时间-11, 事件v5的最迟发生时间-9}={24-11, 22-9}=13。该AOE网的两条关键路径如图6-7所示。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62810" y="3858895"/>
            <a:ext cx="5104765" cy="28168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62940" y="680085"/>
            <a:ext cx="10517505" cy="1212850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2800">
                <a:latin typeface="+mn-ea"/>
                <a:ea typeface="+mn-ea"/>
                <a:cs typeface="+mn-ea"/>
              </a:rPr>
              <a:t>已知散列函数H(k)=k mod 12，键值序列为(25, 37, 52, 43, 84, 99, 120, 15, 26, 11, 70, 82)，采用拉链法处理冲突，试构造开散列表，并计算查找成功的平均查找长度。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680720" y="1953260"/>
            <a:ext cx="4833620" cy="26765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en-US" sz="2400" b="0" i="1">
                <a:latin typeface="Times New Roman" panose="02020603050405020304" charset="0"/>
              </a:rPr>
              <a:t>H</a:t>
            </a:r>
            <a:r>
              <a:rPr lang="en-US" sz="2400" b="0">
                <a:latin typeface="宋体" panose="02010600030101010101" pitchFamily="2" charset="-122"/>
              </a:rPr>
              <a:t>(</a:t>
            </a:r>
            <a:r>
              <a:rPr lang="en-US" sz="2400" b="0">
                <a:latin typeface="Times New Roman" panose="02020603050405020304" charset="0"/>
              </a:rPr>
              <a:t>25</a:t>
            </a:r>
            <a:r>
              <a:rPr lang="en-US" sz="2400" b="0">
                <a:latin typeface="宋体" panose="02010600030101010101" pitchFamily="2" charset="-122"/>
              </a:rPr>
              <a:t>)</a:t>
            </a:r>
            <a:r>
              <a:rPr lang="en-US" sz="2400" b="0">
                <a:latin typeface="Times New Roman" panose="02020603050405020304" charset="0"/>
              </a:rPr>
              <a:t>=1,   </a:t>
            </a:r>
            <a:r>
              <a:rPr lang="en-US" sz="2400" b="0" i="1">
                <a:latin typeface="Times New Roman" panose="02020603050405020304" charset="0"/>
              </a:rPr>
              <a:t>H</a:t>
            </a:r>
            <a:r>
              <a:rPr lang="en-US" sz="2400" b="0">
                <a:latin typeface="宋体" panose="02010600030101010101" pitchFamily="2" charset="-122"/>
              </a:rPr>
              <a:t>(</a:t>
            </a:r>
            <a:r>
              <a:rPr lang="en-US" sz="2400" b="0">
                <a:latin typeface="Times New Roman" panose="02020603050405020304" charset="0"/>
              </a:rPr>
              <a:t>37</a:t>
            </a:r>
            <a:r>
              <a:rPr lang="en-US" sz="2400" b="0">
                <a:latin typeface="宋体" panose="02010600030101010101" pitchFamily="2" charset="-122"/>
              </a:rPr>
              <a:t>)</a:t>
            </a:r>
            <a:r>
              <a:rPr lang="en-US" sz="2400" b="0">
                <a:latin typeface="Times New Roman" panose="02020603050405020304" charset="0"/>
              </a:rPr>
              <a:t>=1,   </a:t>
            </a:r>
            <a:r>
              <a:rPr lang="en-US" sz="2400" b="0" i="1">
                <a:latin typeface="Times New Roman" panose="02020603050405020304" charset="0"/>
              </a:rPr>
              <a:t>H</a:t>
            </a:r>
            <a:r>
              <a:rPr lang="en-US" sz="2400" b="0">
                <a:latin typeface="宋体" panose="02010600030101010101" pitchFamily="2" charset="-122"/>
              </a:rPr>
              <a:t>(</a:t>
            </a:r>
            <a:r>
              <a:rPr lang="en-US" sz="2400" b="0">
                <a:latin typeface="Times New Roman" panose="02020603050405020304" charset="0"/>
              </a:rPr>
              <a:t>52</a:t>
            </a:r>
            <a:r>
              <a:rPr lang="en-US" sz="2400" b="0">
                <a:latin typeface="宋体" panose="02010600030101010101" pitchFamily="2" charset="-122"/>
              </a:rPr>
              <a:t>)</a:t>
            </a:r>
            <a:r>
              <a:rPr lang="en-US" sz="2400" b="0">
                <a:latin typeface="Times New Roman" panose="02020603050405020304" charset="0"/>
              </a:rPr>
              <a:t>=4,     </a:t>
            </a:r>
            <a:r>
              <a:rPr lang="en-US" sz="2400" b="0" i="1">
                <a:latin typeface="Times New Roman" panose="02020603050405020304" charset="0"/>
              </a:rPr>
              <a:t>H</a:t>
            </a:r>
            <a:r>
              <a:rPr lang="en-US" sz="2400" b="0">
                <a:latin typeface="宋体" panose="02010600030101010101" pitchFamily="2" charset="-122"/>
              </a:rPr>
              <a:t>(</a:t>
            </a:r>
            <a:r>
              <a:rPr lang="en-US" sz="2400" b="0">
                <a:latin typeface="Times New Roman" panose="02020603050405020304" charset="0"/>
              </a:rPr>
              <a:t>43</a:t>
            </a:r>
            <a:r>
              <a:rPr lang="en-US" sz="2400" b="0">
                <a:latin typeface="宋体" panose="02010600030101010101" pitchFamily="2" charset="-122"/>
              </a:rPr>
              <a:t>)</a:t>
            </a:r>
            <a:r>
              <a:rPr lang="en-US" sz="2400" b="0">
                <a:latin typeface="Times New Roman" panose="02020603050405020304" charset="0"/>
              </a:rPr>
              <a:t>=7,</a:t>
            </a:r>
            <a:r>
              <a:rPr lang="en-US" sz="2400" b="0">
                <a:latin typeface="宋体" panose="02010600030101010101" pitchFamily="2" charset="-122"/>
              </a:rPr>
              <a:t> </a:t>
            </a:r>
            <a:r>
              <a:rPr lang="en-US" sz="2400" b="0" i="1">
                <a:latin typeface="Times New Roman" panose="02020603050405020304" charset="0"/>
              </a:rPr>
              <a:t> H</a:t>
            </a:r>
            <a:r>
              <a:rPr lang="en-US" sz="2400" b="0">
                <a:latin typeface="宋体" panose="02010600030101010101" pitchFamily="2" charset="-122"/>
              </a:rPr>
              <a:t>(</a:t>
            </a:r>
            <a:r>
              <a:rPr lang="en-US" sz="2400" b="0">
                <a:latin typeface="Times New Roman" panose="02020603050405020304" charset="0"/>
              </a:rPr>
              <a:t>84</a:t>
            </a:r>
            <a:r>
              <a:rPr lang="en-US" sz="2400" b="0">
                <a:latin typeface="宋体" panose="02010600030101010101" pitchFamily="2" charset="-122"/>
              </a:rPr>
              <a:t>)</a:t>
            </a:r>
            <a:r>
              <a:rPr lang="en-US" sz="2400" b="0">
                <a:latin typeface="Times New Roman" panose="02020603050405020304" charset="0"/>
              </a:rPr>
              <a:t>=0,  </a:t>
            </a:r>
            <a:r>
              <a:rPr lang="en-US" sz="2400" b="0" i="1">
                <a:latin typeface="Times New Roman" panose="02020603050405020304" charset="0"/>
              </a:rPr>
              <a:t> H</a:t>
            </a:r>
            <a:r>
              <a:rPr lang="en-US" sz="2400" b="0">
                <a:latin typeface="宋体" panose="02010600030101010101" pitchFamily="2" charset="-122"/>
              </a:rPr>
              <a:t>(</a:t>
            </a:r>
            <a:r>
              <a:rPr lang="en-US" sz="2400" b="0">
                <a:latin typeface="Times New Roman" panose="02020603050405020304" charset="0"/>
              </a:rPr>
              <a:t>99</a:t>
            </a:r>
            <a:r>
              <a:rPr lang="en-US" sz="2400" b="0">
                <a:latin typeface="宋体" panose="02010600030101010101" pitchFamily="2" charset="-122"/>
              </a:rPr>
              <a:t>)</a:t>
            </a:r>
            <a:r>
              <a:rPr lang="en-US" sz="2400" b="0">
                <a:latin typeface="Times New Roman" panose="02020603050405020304" charset="0"/>
              </a:rPr>
              <a:t>=3,</a:t>
            </a:r>
            <a:endParaRPr lang="en-US" sz="2400" b="0" i="1">
              <a:latin typeface="宋体" panose="02010600030101010101" pitchFamily="2" charset="-122"/>
            </a:endParaRPr>
          </a:p>
          <a:p>
            <a:r>
              <a:rPr lang="en-US" sz="2400" b="0" i="1">
                <a:latin typeface="Times New Roman" panose="02020603050405020304" charset="0"/>
              </a:rPr>
              <a:t>H</a:t>
            </a:r>
            <a:r>
              <a:rPr lang="en-US" sz="2400" b="0">
                <a:latin typeface="宋体" panose="02010600030101010101" pitchFamily="2" charset="-122"/>
              </a:rPr>
              <a:t>(</a:t>
            </a:r>
            <a:r>
              <a:rPr lang="en-US" sz="2400" b="0">
                <a:latin typeface="Times New Roman" panose="02020603050405020304" charset="0"/>
              </a:rPr>
              <a:t>120</a:t>
            </a:r>
            <a:r>
              <a:rPr lang="en-US" sz="2400" b="0">
                <a:latin typeface="宋体" panose="02010600030101010101" pitchFamily="2" charset="-122"/>
              </a:rPr>
              <a:t>)</a:t>
            </a:r>
            <a:r>
              <a:rPr lang="en-US" sz="2400" b="0">
                <a:latin typeface="Times New Roman" panose="02020603050405020304" charset="0"/>
              </a:rPr>
              <a:t>=0,  </a:t>
            </a:r>
            <a:r>
              <a:rPr lang="en-US" sz="2400" b="0" i="1">
                <a:latin typeface="Times New Roman" panose="02020603050405020304" charset="0"/>
              </a:rPr>
              <a:t>H</a:t>
            </a:r>
            <a:r>
              <a:rPr lang="en-US" sz="2400" b="0">
                <a:latin typeface="宋体" panose="02010600030101010101" pitchFamily="2" charset="-122"/>
              </a:rPr>
              <a:t>(</a:t>
            </a:r>
            <a:r>
              <a:rPr lang="en-US" sz="2400" b="0">
                <a:latin typeface="Times New Roman" panose="02020603050405020304" charset="0"/>
              </a:rPr>
              <a:t>15</a:t>
            </a:r>
            <a:r>
              <a:rPr lang="en-US" sz="2400" b="0">
                <a:latin typeface="宋体" panose="02010600030101010101" pitchFamily="2" charset="-122"/>
              </a:rPr>
              <a:t>)</a:t>
            </a:r>
            <a:r>
              <a:rPr lang="en-US" sz="2400" b="0">
                <a:latin typeface="Times New Roman" panose="02020603050405020304" charset="0"/>
              </a:rPr>
              <a:t>=3,</a:t>
            </a:r>
            <a:r>
              <a:rPr lang="en-US" sz="2400" b="0">
                <a:latin typeface="宋体" panose="02010600030101010101" pitchFamily="2" charset="-122"/>
              </a:rPr>
              <a:t> </a:t>
            </a:r>
            <a:r>
              <a:rPr lang="en-US" sz="2400" b="0" i="1">
                <a:latin typeface="Times New Roman" panose="02020603050405020304" charset="0"/>
              </a:rPr>
              <a:t> H</a:t>
            </a:r>
            <a:r>
              <a:rPr lang="en-US" sz="2400" b="0">
                <a:latin typeface="宋体" panose="02010600030101010101" pitchFamily="2" charset="-122"/>
              </a:rPr>
              <a:t>(</a:t>
            </a:r>
            <a:r>
              <a:rPr lang="en-US" sz="2400" b="0">
                <a:latin typeface="Times New Roman" panose="02020603050405020304" charset="0"/>
              </a:rPr>
              <a:t>26</a:t>
            </a:r>
            <a:r>
              <a:rPr lang="en-US" sz="2400" b="0">
                <a:latin typeface="宋体" panose="02010600030101010101" pitchFamily="2" charset="-122"/>
              </a:rPr>
              <a:t>)</a:t>
            </a:r>
            <a:r>
              <a:rPr lang="en-US" sz="2400" b="0">
                <a:latin typeface="Times New Roman" panose="02020603050405020304" charset="0"/>
              </a:rPr>
              <a:t>=2,</a:t>
            </a:r>
            <a:r>
              <a:rPr lang="en-US" sz="2400" b="0">
                <a:latin typeface="宋体" panose="02010600030101010101" pitchFamily="2" charset="-122"/>
              </a:rPr>
              <a:t>  </a:t>
            </a:r>
            <a:r>
              <a:rPr lang="en-US" sz="2400" b="0" i="1">
                <a:latin typeface="Times New Roman" panose="02020603050405020304" charset="0"/>
              </a:rPr>
              <a:t>H</a:t>
            </a:r>
            <a:r>
              <a:rPr lang="en-US" sz="2400" b="0">
                <a:latin typeface="宋体" panose="02010600030101010101" pitchFamily="2" charset="-122"/>
              </a:rPr>
              <a:t>(</a:t>
            </a:r>
            <a:r>
              <a:rPr lang="en-US" sz="2400" b="0">
                <a:latin typeface="Times New Roman" panose="02020603050405020304" charset="0"/>
              </a:rPr>
              <a:t>11</a:t>
            </a:r>
            <a:r>
              <a:rPr lang="en-US" sz="2400" b="0">
                <a:latin typeface="宋体" panose="02010600030101010101" pitchFamily="2" charset="-122"/>
              </a:rPr>
              <a:t>)</a:t>
            </a:r>
            <a:r>
              <a:rPr lang="en-US" sz="2400" b="0">
                <a:latin typeface="Times New Roman" panose="02020603050405020304" charset="0"/>
              </a:rPr>
              <a:t>=11, </a:t>
            </a:r>
            <a:r>
              <a:rPr lang="en-US" sz="2400" b="0">
                <a:latin typeface="宋体" panose="02010600030101010101" pitchFamily="2" charset="-122"/>
              </a:rPr>
              <a:t> </a:t>
            </a:r>
            <a:r>
              <a:rPr lang="en-US" sz="2400" b="0">
                <a:latin typeface="Times New Roman" panose="02020603050405020304" charset="0"/>
              </a:rPr>
              <a:t> </a:t>
            </a:r>
            <a:r>
              <a:rPr lang="en-US" sz="2400" b="0" i="1">
                <a:latin typeface="Times New Roman" panose="02020603050405020304" charset="0"/>
              </a:rPr>
              <a:t>H</a:t>
            </a:r>
            <a:r>
              <a:rPr lang="en-US" sz="2400" b="0">
                <a:latin typeface="宋体" panose="02010600030101010101" pitchFamily="2" charset="-122"/>
              </a:rPr>
              <a:t>(</a:t>
            </a:r>
            <a:r>
              <a:rPr lang="en-US" sz="2400" b="0">
                <a:latin typeface="Times New Roman" panose="02020603050405020304" charset="0"/>
              </a:rPr>
              <a:t>70</a:t>
            </a:r>
            <a:r>
              <a:rPr lang="en-US" sz="2400" b="0">
                <a:latin typeface="宋体" panose="02010600030101010101" pitchFamily="2" charset="-122"/>
              </a:rPr>
              <a:t>)</a:t>
            </a:r>
            <a:r>
              <a:rPr lang="en-US" sz="2400" b="0">
                <a:latin typeface="Times New Roman" panose="02020603050405020304" charset="0"/>
              </a:rPr>
              <a:t>=10,   </a:t>
            </a:r>
            <a:r>
              <a:rPr lang="en-US" sz="2400" b="0" i="1">
                <a:latin typeface="Times New Roman" panose="02020603050405020304" charset="0"/>
              </a:rPr>
              <a:t>H</a:t>
            </a:r>
            <a:r>
              <a:rPr lang="en-US" sz="2400" b="0">
                <a:latin typeface="宋体" panose="02010600030101010101" pitchFamily="2" charset="-122"/>
              </a:rPr>
              <a:t>(</a:t>
            </a:r>
            <a:r>
              <a:rPr lang="en-US" sz="2400" b="0">
                <a:latin typeface="Times New Roman" panose="02020603050405020304" charset="0"/>
              </a:rPr>
              <a:t>82</a:t>
            </a:r>
            <a:r>
              <a:rPr lang="en-US" sz="2400" b="0">
                <a:latin typeface="宋体" panose="02010600030101010101" pitchFamily="2" charset="-122"/>
              </a:rPr>
              <a:t>)</a:t>
            </a:r>
            <a:r>
              <a:rPr lang="en-US" sz="2400" b="0">
                <a:latin typeface="Times New Roman" panose="02020603050405020304" charset="0"/>
              </a:rPr>
              <a:t>=10</a:t>
            </a:r>
            <a:endParaRPr lang="en-US" sz="2400" b="0" i="1">
              <a:latin typeface="宋体" panose="02010600030101010101" pitchFamily="2" charset="-122"/>
            </a:endParaRPr>
          </a:p>
          <a:p>
            <a:r>
              <a:rPr lang="zh-CN" sz="2400" b="0">
                <a:ea typeface="宋体" panose="02010600030101010101" pitchFamily="2" charset="-122"/>
              </a:rPr>
              <a:t>构造的开散列表如图</a:t>
            </a:r>
            <a:r>
              <a:rPr lang="en-US" sz="2400" b="0">
                <a:latin typeface="宋体" panose="02010600030101010101" pitchFamily="2" charset="-122"/>
              </a:rPr>
              <a:t>7-18</a:t>
            </a:r>
            <a:r>
              <a:rPr lang="zh-CN" sz="2400" b="0">
                <a:ea typeface="宋体" panose="02010600030101010101" pitchFamily="2" charset="-122"/>
              </a:rPr>
              <a:t>所示，</a:t>
            </a:r>
          </a:p>
          <a:p>
            <a:pPr indent="0"/>
            <a:r>
              <a:rPr lang="zh-CN" sz="2400" b="0">
                <a:ea typeface="宋体" panose="02010600030101010101" pitchFamily="2" charset="-122"/>
              </a:rPr>
              <a:t>平均查找长度</a:t>
            </a:r>
            <a:r>
              <a:rPr lang="en-US" sz="2400" b="0" i="1">
                <a:latin typeface="宋体" panose="02010600030101010101" pitchFamily="2" charset="-122"/>
              </a:rPr>
              <a:t>ASL</a:t>
            </a:r>
            <a:r>
              <a:rPr lang="en-US" sz="2400" b="0">
                <a:latin typeface="宋体" panose="02010600030101010101" pitchFamily="2" charset="-122"/>
              </a:rPr>
              <a:t>=(8×</a:t>
            </a:r>
            <a:r>
              <a:rPr lang="en-US" sz="2400" b="0">
                <a:latin typeface="Times New Roman" panose="02020603050405020304" charset="0"/>
              </a:rPr>
              <a:t>1+4</a:t>
            </a:r>
            <a:r>
              <a:rPr lang="en-US" sz="2400" b="0">
                <a:latin typeface="宋体" panose="02010600030101010101" pitchFamily="2" charset="-122"/>
              </a:rPr>
              <a:t>×</a:t>
            </a:r>
            <a:r>
              <a:rPr lang="en-US" sz="2400" b="0">
                <a:latin typeface="Times New Roman" panose="02020603050405020304" charset="0"/>
              </a:rPr>
              <a:t>2</a:t>
            </a:r>
            <a:r>
              <a:rPr lang="en-US" sz="2400" b="0">
                <a:latin typeface="宋体" panose="02010600030101010101" pitchFamily="2" charset="-122"/>
              </a:rPr>
              <a:t>)/12=16/12</a:t>
            </a:r>
            <a:r>
              <a:rPr lang="zh-CN" sz="2400" b="0">
                <a:ea typeface="宋体" panose="02010600030101010101" pitchFamily="2" charset="-122"/>
              </a:rPr>
              <a:t>。</a:t>
            </a:r>
            <a:endParaRPr lang="zh-CN" altLang="en-US" sz="24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047740" y="1630045"/>
            <a:ext cx="4054475" cy="513461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100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62940" y="680085"/>
            <a:ext cx="10450195" cy="1290955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2800">
                <a:latin typeface="+mn-ea"/>
                <a:ea typeface="+mn-ea"/>
                <a:cs typeface="+mn-ea"/>
              </a:rPr>
              <a:t>已知如下所示长度为12的表 (Jan, Feb, Mar, Apr, May, June, July, Aug, Sep, Oct, Nov, Dec)，试按表中元素的顺序依次插入一棵初始为空的二叉排序树,画出插入完成之后的二叉排序树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973070" y="2101850"/>
            <a:ext cx="3848100" cy="3886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62940" y="680085"/>
            <a:ext cx="10340340" cy="664210"/>
          </a:xfrm>
        </p:spPr>
        <p:txBody>
          <a:bodyPr>
            <a:normAutofit/>
          </a:bodyPr>
          <a:lstStyle/>
          <a:p>
            <a:pPr algn="l"/>
            <a:r>
              <a:rPr lang="zh-CN" altLang="en-US" sz="2800">
                <a:latin typeface="+mn-ea"/>
                <a:ea typeface="+mn-ea"/>
                <a:cs typeface="+mn-ea"/>
              </a:rPr>
              <a:t>试列出下图中全部可能的拓扑有序序列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62940" y="1344295"/>
            <a:ext cx="4743450" cy="20637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473700" y="1366520"/>
            <a:ext cx="2540000" cy="31076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800"/>
              <a:t>1523</a:t>
            </a:r>
            <a:r>
              <a:rPr lang="en-US" altLang="zh-CN" sz="2800"/>
              <a:t>6</a:t>
            </a:r>
            <a:r>
              <a:rPr lang="zh-CN" altLang="en-US" sz="2800"/>
              <a:t>4</a:t>
            </a:r>
          </a:p>
          <a:p>
            <a:r>
              <a:rPr lang="en-US" altLang="zh-CN" sz="2800"/>
              <a:t>152634</a:t>
            </a:r>
          </a:p>
          <a:p>
            <a:r>
              <a:rPr lang="en-US" altLang="zh-CN" sz="2800"/>
              <a:t>156234</a:t>
            </a:r>
          </a:p>
          <a:p>
            <a:r>
              <a:rPr lang="en-US" altLang="zh-CN" sz="2800"/>
              <a:t>512364</a:t>
            </a:r>
          </a:p>
          <a:p>
            <a:r>
              <a:rPr lang="en-US" altLang="zh-CN" sz="2800"/>
              <a:t>512634</a:t>
            </a:r>
          </a:p>
          <a:p>
            <a:r>
              <a:rPr lang="en-US" altLang="zh-CN" sz="2800"/>
              <a:t>516234</a:t>
            </a:r>
          </a:p>
          <a:p>
            <a:r>
              <a:rPr lang="en-US" altLang="zh-CN" sz="2800"/>
              <a:t>561234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62940" y="226695"/>
            <a:ext cx="10450195" cy="1290955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2800">
                <a:latin typeface="+mn-ea"/>
                <a:ea typeface="+mn-ea"/>
                <a:cs typeface="+mn-ea"/>
              </a:rPr>
              <a:t>判别下列序列是否为堆，如不是，把它调整为堆，用图表示建堆的过程。</a:t>
            </a:r>
            <a:br>
              <a:rPr lang="zh-CN" altLang="en-US" sz="2800">
                <a:latin typeface="+mn-ea"/>
                <a:ea typeface="+mn-ea"/>
                <a:cs typeface="+mn-ea"/>
              </a:rPr>
            </a:br>
            <a:r>
              <a:rPr lang="zh-CN" altLang="en-US" sz="2800">
                <a:latin typeface="+mn-ea"/>
                <a:ea typeface="+mn-ea"/>
                <a:cs typeface="+mn-ea"/>
              </a:rPr>
              <a:t>①（1，5，7，25，21，8，8，42）</a:t>
            </a:r>
            <a:br>
              <a:rPr lang="zh-CN" altLang="en-US" sz="2800">
                <a:latin typeface="+mn-ea"/>
                <a:ea typeface="+mn-ea"/>
                <a:cs typeface="+mn-ea"/>
              </a:rPr>
            </a:br>
            <a:r>
              <a:rPr lang="zh-CN" altLang="en-US" sz="2800">
                <a:latin typeface="+mn-ea"/>
                <a:ea typeface="+mn-ea"/>
                <a:cs typeface="+mn-ea"/>
              </a:rPr>
              <a:t>②（3，9，5，8，4，17，21，6）</a:t>
            </a:r>
          </a:p>
        </p:txBody>
      </p:sp>
      <p:sp>
        <p:nvSpPr>
          <p:cNvPr id="100" name="文本框 99"/>
          <p:cNvSpPr txBox="1"/>
          <p:nvPr/>
        </p:nvSpPr>
        <p:spPr>
          <a:xfrm>
            <a:off x="662305" y="1532255"/>
            <a:ext cx="10528935" cy="9531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/>
            <a:r>
              <a:rPr lang="zh-CN" sz="2800" b="0">
                <a:ea typeface="宋体" panose="02010600030101010101" pitchFamily="2" charset="-122"/>
              </a:rPr>
              <a:t>序列</a:t>
            </a:r>
            <a:r>
              <a:rPr lang="zh-CN" altLang="en-US" sz="2800">
                <a:latin typeface="+mn-ea"/>
                <a:cs typeface="+mn-ea"/>
                <a:sym typeface="+mn-ea"/>
              </a:rPr>
              <a:t>①</a:t>
            </a:r>
            <a:r>
              <a:rPr lang="zh-CN" sz="2800" b="0">
                <a:ea typeface="宋体" panose="02010600030101010101" pitchFamily="2" charset="-122"/>
              </a:rPr>
              <a:t>是堆，序列</a:t>
            </a:r>
            <a:r>
              <a:rPr lang="zh-CN" altLang="en-US" sz="2800">
                <a:latin typeface="+mn-ea"/>
                <a:cs typeface="+mn-ea"/>
                <a:sym typeface="+mn-ea"/>
              </a:rPr>
              <a:t>②</a:t>
            </a:r>
            <a:r>
              <a:rPr lang="zh-CN" sz="2800" b="0">
                <a:ea typeface="宋体" panose="02010600030101010101" pitchFamily="2" charset="-122"/>
              </a:rPr>
              <a:t>不是堆，调整为堆（假设为大根堆）的过程如图</a:t>
            </a:r>
            <a:r>
              <a:rPr lang="en-US" sz="2800" b="0">
                <a:latin typeface="宋体" panose="02010600030101010101" pitchFamily="2" charset="-122"/>
              </a:rPr>
              <a:t>8-6</a:t>
            </a:r>
            <a:r>
              <a:rPr lang="zh-CN" sz="2800" b="0">
                <a:ea typeface="宋体" panose="02010600030101010101" pitchFamily="2" charset="-122"/>
              </a:rPr>
              <a:t>所示。</a:t>
            </a:r>
            <a:endParaRPr lang="zh-CN" altLang="en-US" sz="280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97610" y="2469515"/>
            <a:ext cx="9530715" cy="40532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100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62940" y="680085"/>
            <a:ext cx="10450195" cy="1290955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sz="2800">
                <a:latin typeface="+mn-ea"/>
                <a:ea typeface="+mn-ea"/>
                <a:cs typeface="+mn-ea"/>
              </a:rPr>
              <a:t>已知数据序列为(12，5，9，20，6，31，24)，对该数据序列进行排序，写出插入排序、起泡排序、快速排序、简单选择排序、堆排序以及二路归并排序每趟的结果。</a:t>
            </a:r>
          </a:p>
        </p:txBody>
      </p:sp>
      <p:grpSp>
        <p:nvGrpSpPr>
          <p:cNvPr id="1073747811" name="组合 1073747810"/>
          <p:cNvGrpSpPr/>
          <p:nvPr/>
        </p:nvGrpSpPr>
        <p:grpSpPr>
          <a:xfrm>
            <a:off x="662940" y="1971040"/>
            <a:ext cx="11118898" cy="4359910"/>
            <a:chOff x="1" y="4499"/>
            <a:chExt cx="9611" cy="2790"/>
          </a:xfrm>
        </p:grpSpPr>
        <p:sp>
          <p:nvSpPr>
            <p:cNvPr id="1073747812" name="文本框 1073747811"/>
            <p:cNvSpPr txBox="1"/>
            <p:nvPr/>
          </p:nvSpPr>
          <p:spPr>
            <a:xfrm>
              <a:off x="1" y="4499"/>
              <a:ext cx="4999" cy="279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wrap="square" lIns="54000" rIns="0"/>
            <a:lstStyle/>
            <a:p>
              <a:r>
                <a:rPr lang="zh-CN" altLang="en-US" sz="2400"/>
                <a:t>插入排序：</a:t>
              </a:r>
            </a:p>
            <a:p>
              <a:r>
                <a:rPr lang="zh-CN" altLang="en-US" sz="2400"/>
                <a:t>初始键值序列［12］ 5    9  20  6  31  24</a:t>
              </a:r>
            </a:p>
            <a:p>
              <a:r>
                <a:rPr lang="zh-CN" altLang="en-US" sz="2400"/>
                <a:t>第一趟结果 ［5   12］  9  20  6  31  24</a:t>
              </a:r>
            </a:p>
            <a:p>
              <a:r>
                <a:rPr lang="zh-CN" altLang="en-US" sz="2400"/>
                <a:t>第二趟结果 ［5   9  12］  20  6  31  24</a:t>
              </a:r>
            </a:p>
            <a:p>
              <a:r>
                <a:rPr lang="zh-CN" altLang="en-US" sz="2400"/>
                <a:t>第三趟结果 ［5   9  12  20］  6  31  24</a:t>
              </a:r>
            </a:p>
            <a:p>
              <a:r>
                <a:rPr lang="zh-CN" altLang="en-US" sz="2400"/>
                <a:t>第四趟结果 ［5   6   9  12  20］ 31  24</a:t>
              </a:r>
            </a:p>
            <a:p>
              <a:r>
                <a:rPr lang="zh-CN" altLang="en-US" sz="2400"/>
                <a:t>第五趟结果 ［5   6   9  12  20  31］ 24</a:t>
              </a:r>
            </a:p>
            <a:p>
              <a:r>
                <a:rPr lang="zh-CN" altLang="en-US" sz="2400"/>
                <a:t>第六趟结果 ［5   6   9  12  20  24  31］</a:t>
              </a:r>
            </a:p>
            <a:p>
              <a:endParaRPr lang="zh-CN" altLang="en-US" sz="2400"/>
            </a:p>
          </p:txBody>
        </p:sp>
        <p:sp>
          <p:nvSpPr>
            <p:cNvPr id="1073747813" name="文本框 1073747812"/>
            <p:cNvSpPr txBox="1"/>
            <p:nvPr/>
          </p:nvSpPr>
          <p:spPr>
            <a:xfrm>
              <a:off x="5213" y="4499"/>
              <a:ext cx="4399" cy="279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wrap="square" lIns="54000" rIns="0"/>
            <a:lstStyle/>
            <a:p>
              <a:r>
                <a:rPr lang="zh-CN" altLang="en-US" sz="2400"/>
                <a:t>简单选择排序：</a:t>
              </a:r>
            </a:p>
            <a:p>
              <a:r>
                <a:rPr lang="zh-CN" altLang="en-US" sz="2400"/>
                <a:t>初始键值序列［12  5    9  20   6  31  24］</a:t>
              </a:r>
            </a:p>
            <a:p>
              <a:r>
                <a:rPr lang="zh-CN" altLang="en-US" sz="2400"/>
                <a:t>第一趟结果    5 ［12  9  20   6  31  24］</a:t>
              </a:r>
            </a:p>
            <a:p>
              <a:r>
                <a:rPr lang="zh-CN" altLang="en-US" sz="2400"/>
                <a:t>第二趟结果    5   6 ［9  20  12  31  24］</a:t>
              </a:r>
            </a:p>
            <a:p>
              <a:r>
                <a:rPr lang="zh-CN" altLang="en-US" sz="2400"/>
                <a:t>第三趟结果    5   6   9［20  12  31  24］</a:t>
              </a:r>
            </a:p>
            <a:p>
              <a:r>
                <a:rPr lang="zh-CN" altLang="en-US" sz="2400"/>
                <a:t>第四趟结果    5   6   9  12［20  31  24］</a:t>
              </a:r>
            </a:p>
            <a:p>
              <a:r>
                <a:rPr lang="zh-CN" altLang="en-US" sz="2400"/>
                <a:t>第五趟结果    5   6   9  12  20［31  24］</a:t>
              </a:r>
            </a:p>
            <a:p>
              <a:r>
                <a:rPr lang="zh-CN" altLang="en-US" sz="2400"/>
                <a:t>第六趟结果    5   6   9  12  20  24  31</a:t>
              </a:r>
            </a:p>
            <a:p>
              <a:endParaRPr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747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3747808" name="组合 1073747807"/>
          <p:cNvGrpSpPr/>
          <p:nvPr/>
        </p:nvGrpSpPr>
        <p:grpSpPr>
          <a:xfrm>
            <a:off x="475615" y="812800"/>
            <a:ext cx="10916285" cy="4941570"/>
            <a:chOff x="832" y="7469"/>
            <a:chExt cx="8598" cy="1995"/>
          </a:xfrm>
        </p:grpSpPr>
        <p:sp>
          <p:nvSpPr>
            <p:cNvPr id="1073747809" name="文本框 1073747808"/>
            <p:cNvSpPr txBox="1"/>
            <p:nvPr/>
          </p:nvSpPr>
          <p:spPr>
            <a:xfrm>
              <a:off x="832" y="7469"/>
              <a:ext cx="4318" cy="1965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wrap="square" lIns="54000" rIns="0"/>
            <a:lstStyle/>
            <a:p>
              <a:r>
                <a:rPr lang="zh-CN" altLang="en-US" sz="2400"/>
                <a:t>快速排序：</a:t>
              </a:r>
            </a:p>
            <a:p>
              <a:r>
                <a:rPr lang="zh-CN" altLang="en-US" sz="2400"/>
                <a:t>初始键值序列 12  5    9  20  6  31  24</a:t>
              </a:r>
            </a:p>
            <a:p>
              <a:r>
                <a:rPr lang="zh-CN" altLang="en-US" sz="2400"/>
                <a:t>第一趟结果 ［6   5   9］12［20  31  24］</a:t>
              </a:r>
            </a:p>
            <a:p>
              <a:r>
                <a:rPr lang="zh-CN" altLang="en-US" sz="2400"/>
                <a:t>第二趟结果 ［5］ 6 ［9］12  20［31  24］</a:t>
              </a:r>
            </a:p>
            <a:p>
              <a:r>
                <a:rPr lang="zh-CN" altLang="en-US" sz="2400"/>
                <a:t>第三趟结果  5   6   9  12  20 ［24］31</a:t>
              </a:r>
            </a:p>
            <a:p>
              <a:r>
                <a:rPr lang="zh-CN" altLang="en-US" sz="2400"/>
                <a:t>第四趟结果  5   6   9  12  20   24  31</a:t>
              </a:r>
            </a:p>
            <a:p>
              <a:endParaRPr lang="zh-CN" altLang="en-US" sz="2400"/>
            </a:p>
          </p:txBody>
        </p:sp>
        <p:sp>
          <p:nvSpPr>
            <p:cNvPr id="1073747810" name="文本框 1073747809"/>
            <p:cNvSpPr txBox="1"/>
            <p:nvPr/>
          </p:nvSpPr>
          <p:spPr>
            <a:xfrm>
              <a:off x="5214" y="7469"/>
              <a:ext cx="4216" cy="1995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wrap="square" lIns="54000" rIns="0"/>
            <a:lstStyle/>
            <a:p>
              <a:r>
                <a:rPr lang="zh-CN" altLang="en-US" sz="2400"/>
                <a:t>起泡排序：</a:t>
              </a:r>
            </a:p>
            <a:p>
              <a:r>
                <a:rPr lang="zh-CN" altLang="en-US" sz="2400"/>
                <a:t>初始键值序列［12  5   9  20  6  31  24］</a:t>
              </a:r>
            </a:p>
            <a:p>
              <a:r>
                <a:rPr lang="zh-CN" altLang="en-US" sz="2400"/>
                <a:t>第一趟结果  ［5   9  12   6  20  24］31</a:t>
              </a:r>
            </a:p>
            <a:p>
              <a:r>
                <a:rPr lang="zh-CN" altLang="en-US" sz="2400"/>
                <a:t>第二趟结果  ［5   9   6］12  20  24  31</a:t>
              </a:r>
            </a:p>
            <a:p>
              <a:r>
                <a:rPr lang="zh-CN" altLang="en-US" sz="2400"/>
                <a:t>第三趟结果  ［5   6］ 9  12  20  24  31</a:t>
              </a:r>
            </a:p>
            <a:p>
              <a:r>
                <a:rPr lang="zh-CN" altLang="en-US" sz="2400"/>
                <a:t>第四趟结果    5   6   9  12  20  24  31</a:t>
              </a:r>
            </a:p>
            <a:p>
              <a:endParaRPr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530225" y="476250"/>
            <a:ext cx="11336020" cy="5310505"/>
            <a:chOff x="816" y="9602"/>
            <a:chExt cx="8672" cy="2505"/>
          </a:xfrm>
        </p:grpSpPr>
        <p:sp>
          <p:nvSpPr>
            <p:cNvPr id="5" name="文本框 4"/>
            <p:cNvSpPr txBox="1"/>
            <p:nvPr/>
          </p:nvSpPr>
          <p:spPr>
            <a:xfrm>
              <a:off x="816" y="9602"/>
              <a:ext cx="3914" cy="2505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wrap="square" lIns="18000" rIns="0" bIns="0"/>
            <a:lstStyle/>
            <a:p>
              <a:pPr>
                <a:lnSpc>
                  <a:spcPct val="113000"/>
                </a:lnSpc>
              </a:pPr>
              <a:r>
                <a:rPr lang="zh-CN" altLang="en-US" sz="2400"/>
                <a:t>堆排序：</a:t>
              </a:r>
            </a:p>
            <a:p>
              <a:pPr>
                <a:lnSpc>
                  <a:spcPct val="113000"/>
                </a:lnSpc>
              </a:pPr>
              <a:r>
                <a:rPr lang="zh-CN" altLang="en-US" sz="2400"/>
                <a:t>初始键值序列 ［12  5   9  20  6  31  24］</a:t>
              </a:r>
            </a:p>
            <a:p>
              <a:pPr>
                <a:lnSpc>
                  <a:spcPct val="113000"/>
                </a:lnSpc>
              </a:pPr>
              <a:r>
                <a:rPr lang="zh-CN" altLang="en-US" sz="2400"/>
                <a:t>初始建堆结果 ［31  20  24  5  6   9  12］</a:t>
              </a:r>
            </a:p>
            <a:p>
              <a:pPr>
                <a:lnSpc>
                  <a:spcPct val="113000"/>
                </a:lnSpc>
              </a:pPr>
              <a:r>
                <a:rPr lang="zh-CN" altLang="en-US" sz="2400"/>
                <a:t>第一趟结果  ［24  20  12  5   6   9］ 31</a:t>
              </a:r>
            </a:p>
            <a:p>
              <a:pPr>
                <a:lnSpc>
                  <a:spcPct val="113000"/>
                </a:lnSpc>
              </a:pPr>
              <a:r>
                <a:rPr lang="zh-CN" altLang="en-US" sz="2400"/>
                <a:t>第二趟结果  ［20   9  12  5   6］ 24  31</a:t>
              </a:r>
            </a:p>
            <a:p>
              <a:pPr>
                <a:lnSpc>
                  <a:spcPct val="113000"/>
                </a:lnSpc>
              </a:pPr>
              <a:r>
                <a:rPr lang="zh-CN" altLang="en-US" sz="2400"/>
                <a:t>第三趟结果  ［12   9   6   5］20  24  31</a:t>
              </a:r>
            </a:p>
            <a:p>
              <a:pPr>
                <a:lnSpc>
                  <a:spcPct val="113000"/>
                </a:lnSpc>
              </a:pPr>
              <a:r>
                <a:rPr lang="zh-CN" altLang="en-US" sz="2400"/>
                <a:t>第四趟结果  ［9   5   6］ 12  20  24  31</a:t>
              </a:r>
            </a:p>
            <a:p>
              <a:pPr>
                <a:lnSpc>
                  <a:spcPct val="113000"/>
                </a:lnSpc>
              </a:pPr>
              <a:r>
                <a:rPr lang="zh-CN" altLang="en-US" sz="2400"/>
                <a:t>第五趟结果  ［6   5］ 9   12  20  24  31</a:t>
              </a:r>
            </a:p>
            <a:p>
              <a:pPr>
                <a:lnSpc>
                  <a:spcPct val="113000"/>
                </a:lnSpc>
              </a:pPr>
              <a:r>
                <a:rPr lang="zh-CN" altLang="en-US" sz="2400"/>
                <a:t>第六趟结果    5   6   9   12  20  24  31</a:t>
              </a: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4826" y="9617"/>
              <a:ext cx="4662" cy="1860"/>
            </a:xfrm>
            <a:prstGeom prst="rect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miter/>
              <a:headEnd type="none" w="med" len="med"/>
              <a:tailEnd type="none" w="med" len="med"/>
            </a:ln>
          </p:spPr>
          <p:txBody>
            <a:bodyPr wrap="square" lIns="54000" rIns="0"/>
            <a:lstStyle/>
            <a:p>
              <a:r>
                <a:rPr lang="zh-CN" altLang="en-US" sz="2400"/>
                <a:t>二路归并排序：</a:t>
              </a:r>
            </a:p>
            <a:p>
              <a:r>
                <a:rPr lang="zh-CN" altLang="en-US" sz="2400"/>
                <a:t>初始键值序列 12   5    9  20   6  31  24</a:t>
              </a:r>
            </a:p>
            <a:p>
              <a:r>
                <a:rPr lang="zh-CN" altLang="en-US" sz="2400"/>
                <a:t>第一趟结果 ［5  12］［9  20］［6  31］［24］</a:t>
              </a:r>
            </a:p>
            <a:p>
              <a:r>
                <a:rPr lang="zh-CN" altLang="en-US" sz="2400"/>
                <a:t>第二趟结果 ［5  9  12  20］［6  24  31］</a:t>
              </a:r>
            </a:p>
            <a:p>
              <a:r>
                <a:rPr lang="zh-CN" altLang="en-US" sz="2400"/>
                <a:t>第三趟结果 ［5   6   9  12  20  24  31］</a:t>
              </a:r>
            </a:p>
            <a:p>
              <a:endParaRPr lang="zh-CN" altLang="en-US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dabe9bba-a962-4606-b0a4-47a125e7ce06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fbde7685-9887-4c65-a69e-1736f4e6ade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ABLE_BEAUTIFY" val="smartTable{f01b1ede-8e6b-444b-b88b-71de7d399df5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1894</Words>
  <Application>Microsoft Office PowerPoint</Application>
  <PresentationFormat>自定义</PresentationFormat>
  <Paragraphs>179</Paragraphs>
  <Slides>26</Slides>
  <Notes>2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27" baseType="lpstr">
      <vt:lpstr>Office 主题</vt:lpstr>
      <vt:lpstr>设有数据结构（D，R），其中D = {1, 2, 3, 4, 5, 6}，R = {(1, 2),(2, 3),(2, 4),(3, 4),(3, 5),(3, 6),(4, 5),(4, 6)}。试画出其逻辑结构图并指出属于何种结构。</vt:lpstr>
      <vt:lpstr>幻灯片 2</vt:lpstr>
      <vt:lpstr>幻灯片 3</vt:lpstr>
      <vt:lpstr>幻灯片 4</vt:lpstr>
      <vt:lpstr>幻灯片 5</vt:lpstr>
      <vt:lpstr>树转换为二叉树</vt:lpstr>
      <vt:lpstr>二叉树转换为树或森林</vt:lpstr>
      <vt:lpstr>幻灯片 8</vt:lpstr>
      <vt:lpstr>邻接表表示如下：</vt:lpstr>
      <vt:lpstr>图6-9所示是一个无向带权图，请分别按Prim算法和Kruskal算法求最小生成树。</vt:lpstr>
      <vt:lpstr>按Prim算法求最小生成树的过程如下：</vt:lpstr>
      <vt:lpstr>按Kruskal算法求最小生成树的过程如下：</vt:lpstr>
      <vt:lpstr>对如图6-5所示的无向连通网图从顶点d开始用Prim算法构造最小生成树，在构造过程中加入最小生成树的前4条边依次是（      ）。</vt:lpstr>
      <vt:lpstr>如图6-10所示的有向网图，利用Dijkstra算法求从顶点v1到其他各顶点的最短路径。</vt:lpstr>
      <vt:lpstr>从源点v1到其他各顶点的最短路径如下表所示。</vt:lpstr>
      <vt:lpstr>对于如图6-11所示的有向网图，求出各活动的最早开始时间和最晚开始时间，并写出关键活动和关键路径。</vt:lpstr>
      <vt:lpstr>关键活动是a1、a3、a4和a5，它们组成两条关键路径，如图6-12所示。</vt:lpstr>
      <vt:lpstr>设有如图6-6所示的AOE网，则事件v4的最早开始时间是（      ），最迟开始时间是（      ），该AOE网的关键路径有（      ）条。</vt:lpstr>
      <vt:lpstr>事件v4的最早开始时间是从顶点v1到v4的最长路径长度13，事件v4的最迟开始时间=min{事件v6的最迟发生时间-11, 事件v5的最迟发生时间-9}={24-11, 22-9}=13。该AOE网的两条关键路径如图6-7所示。</vt:lpstr>
      <vt:lpstr>已知散列函数H(k)=k mod 12，键值序列为(25, 37, 52, 43, 84, 99, 120, 15, 26, 11, 70, 82)，采用拉链法处理冲突，试构造开散列表，并计算查找成功的平均查找长度。</vt:lpstr>
      <vt:lpstr>已知如下所示长度为12的表 (Jan, Feb, Mar, Apr, May, June, July, Aug, Sep, Oct, Nov, Dec)，试按表中元素的顺序依次插入一棵初始为空的二叉排序树,画出插入完成之后的二叉排序树</vt:lpstr>
      <vt:lpstr>试列出下图中全部可能的拓扑有序序列</vt:lpstr>
      <vt:lpstr>判别下列序列是否为堆，如不是，把它调整为堆，用图表示建堆的过程。 ①（1，5，7，25，21，8，8，42） ②（3，9，5，8，4，17，21，6）</vt:lpstr>
      <vt:lpstr>已知数据序列为(12，5，9，20，6，31，24)，对该数据序列进行排序，写出插入排序、起泡排序、快速排序、简单选择排序、堆排序以及二路归并排序每趟的结果。</vt:lpstr>
      <vt:lpstr>幻灯片 25</vt:lpstr>
      <vt:lpstr>幻灯片 26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设有数据结构（D，R），其中D = {1, 2, 3, 4, 5, 6}，R = {(1, 2),(2, 3),(2, 4),(3, 4),(3, 5),(3, 6),(4, 5),(4, 6)}。试画出其逻辑结构图并指出属于何种结构。</dc:title>
  <dc:creator>Administrator</dc:creator>
  <cp:lastModifiedBy>Administrator</cp:lastModifiedBy>
  <cp:revision>11</cp:revision>
  <dcterms:created xsi:type="dcterms:W3CDTF">2020-12-26T13:33:00Z</dcterms:created>
  <dcterms:modified xsi:type="dcterms:W3CDTF">2020-12-29T10:08:39Z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2052-11.3.0.9228</vt:lpwstr>
  </property>
</Properties>
</file>